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4"/>
  </p:notesMasterIdLst>
  <p:sldIdLst>
    <p:sldId id="256" r:id="rId2"/>
    <p:sldId id="308" r:id="rId3"/>
    <p:sldId id="310" r:id="rId4"/>
    <p:sldId id="311" r:id="rId5"/>
    <p:sldId id="309" r:id="rId6"/>
    <p:sldId id="313" r:id="rId7"/>
    <p:sldId id="314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2" r:id="rId33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35"/>
      <p:bold r:id="rId36"/>
      <p:italic r:id="rId37"/>
      <p:boldItalic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Condensed Light" panose="02000000000000000000" pitchFamily="2" charset="0"/>
      <p:regular r:id="rId47"/>
      <p:italic r:id="rId48"/>
    </p:embeddedFont>
    <p:embeddedFont>
      <p:font typeface="Source Code Pro" panose="020B0509030403020204" pitchFamily="49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2693F0-AB1F-47B5-8E2A-DD1735287022}">
  <a:tblStyle styleId="{9E2693F0-AB1F-47B5-8E2A-DD17352870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F2C3BD1D-4A9E-F9DF-32DA-75C8C86F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BEA3BDF2-05BE-A254-A9DD-F6A67BDCD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3378F447-E1C2-2929-DE9E-39AADD22F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17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>
          <a:extLst>
            <a:ext uri="{FF2B5EF4-FFF2-40B4-BE49-F238E27FC236}">
              <a16:creationId xmlns:a16="http://schemas.microsoft.com/office/drawing/2014/main" id="{E63BE91C-2050-2075-3338-35EB4DE10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4e6b4d5c31_0_143:notes">
            <a:extLst>
              <a:ext uri="{FF2B5EF4-FFF2-40B4-BE49-F238E27FC236}">
                <a16:creationId xmlns:a16="http://schemas.microsoft.com/office/drawing/2014/main" id="{7F2F95F3-1BDA-D2A8-D75F-2956881C3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4e6b4d5c31_0_143:notes">
            <a:extLst>
              <a:ext uri="{FF2B5EF4-FFF2-40B4-BE49-F238E27FC236}">
                <a16:creationId xmlns:a16="http://schemas.microsoft.com/office/drawing/2014/main" id="{7278B0A6-C0B6-D540-A996-198CC7DB3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605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CF3DB029-EBFF-5E58-B39D-79AAB338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9A880E31-F782-457D-59F2-4C62266C9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06359F52-C789-640D-7D31-D22903339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945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1A0576EC-0B80-5A13-E00F-A52D3325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46BDDA23-71F7-076C-656E-079852D4B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6437F930-A6CA-F81E-D78B-36B301A4B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491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C6E2E8E6-A392-0160-8FFD-A485BCD7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15ACC27D-2133-EDC5-C666-04EC5E191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BFBB574D-C193-3F92-6252-3E9B71152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27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809CA03E-53FE-2080-F71A-10895503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E087DD27-253A-99CC-6F4C-43CC62423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792C7383-48B5-472A-8C73-9CD67C346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261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FBB96FA2-5097-5655-A62D-8B421634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D115E467-47C1-AA9F-F7FF-570FE253D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B700D027-1120-4F10-5EE2-F4F742B71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534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DB5E3862-F1A3-3580-96AB-3EC2E56C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50D0D862-1AF5-5977-5A43-6C3B37CCC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22C57BF-2CE8-B21F-BE21-29C629B94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58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81360C0B-9CBE-75FA-106D-95A7BF18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30B2A738-3C14-DE8B-5C20-946D0863F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45DE020A-77FD-9287-ECAB-62CC748D0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30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>
          <a:extLst>
            <a:ext uri="{FF2B5EF4-FFF2-40B4-BE49-F238E27FC236}">
              <a16:creationId xmlns:a16="http://schemas.microsoft.com/office/drawing/2014/main" id="{B099D43B-BA91-7D12-AB05-CDBD5EED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>
            <a:extLst>
              <a:ext uri="{FF2B5EF4-FFF2-40B4-BE49-F238E27FC236}">
                <a16:creationId xmlns:a16="http://schemas.microsoft.com/office/drawing/2014/main" id="{FB1E81BA-2EF2-3A21-52A8-A53C65A62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>
            <a:extLst>
              <a:ext uri="{FF2B5EF4-FFF2-40B4-BE49-F238E27FC236}">
                <a16:creationId xmlns:a16="http://schemas.microsoft.com/office/drawing/2014/main" id="{08A61270-5EB6-3249-CA30-B00AD08CB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467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2332A9A1-AB39-A734-CDCC-C54A5CCA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9F639227-997F-64F7-046B-EEA00E755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80C123F6-0F02-F48D-1AA9-A3D357DC8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22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2211C3F6-BA59-9F59-8C25-61E1DDAF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6697ED64-0814-10A5-BE83-D4734E5AD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94F88C4C-348D-4389-4CDC-9C282810D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758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682FBDF0-F45F-D8B4-7F82-B69875DA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2C067F3D-EE83-9252-34D9-852757F3C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7B3C8E9-BCAB-D9A4-E082-EDBB84CE6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206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1B53E910-7A67-81C1-4043-F9177CAF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B9EBEBC4-6993-1EB1-A2DB-B3BCCAB00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CC8F5FFD-4B30-8175-2BA0-DA7BD420C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120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259AE797-EA75-CABB-8FD9-AD1AF6D5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3A5CF1DE-C4B4-AFE7-B9FC-CEFDA2745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C6FD8D7F-171D-0EC4-4908-079927ADB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876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C0DC42DE-D1CA-2808-A01C-3BE8BB29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3A4B16DE-011F-AFBE-C402-6EDEC2DF7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8B4A6EC5-5A01-C2CB-99B3-50AFFDE0E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37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>
          <a:extLst>
            <a:ext uri="{FF2B5EF4-FFF2-40B4-BE49-F238E27FC236}">
              <a16:creationId xmlns:a16="http://schemas.microsoft.com/office/drawing/2014/main" id="{077A2189-231B-5ECC-853D-ACE5C71C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>
            <a:extLst>
              <a:ext uri="{FF2B5EF4-FFF2-40B4-BE49-F238E27FC236}">
                <a16:creationId xmlns:a16="http://schemas.microsoft.com/office/drawing/2014/main" id="{11F72A4F-4718-CF29-5F16-EE26FEDE3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>
            <a:extLst>
              <a:ext uri="{FF2B5EF4-FFF2-40B4-BE49-F238E27FC236}">
                <a16:creationId xmlns:a16="http://schemas.microsoft.com/office/drawing/2014/main" id="{E34967BF-2EEF-9749-8576-5873260D1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58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04043CFD-39A4-EF7C-C5BD-B4191E1F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367457AF-92BC-4649-F88C-5BB89067C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9F80B9EA-DE58-2636-319D-E0007BB4A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606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A2002F8D-F7FC-6333-B0D8-EE50D19B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AD9F2BF3-62EA-3ADB-1639-E2597D44E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7E60E0D5-62C8-F170-22D3-DAE75F959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170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1CDD205D-D9B9-B165-3E49-0732EEF8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2249E41A-7227-231C-3882-BD5372283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43E26F08-182D-4C05-D0FB-10C86D33E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93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BECCE004-60C7-AC63-9108-7CB5A9D9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66003C28-4F7E-8A2F-39E8-3E3E3216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20380323-BEC3-E182-B517-5CF80FA17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610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35C01B92-D194-B959-190A-BA34E7F0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B839EB97-D59E-6751-3D43-987712FEE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F834AF04-B3D4-CCE6-0A26-7790DE2E44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768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43B20754-644A-39B5-ED7A-687FC1B4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76009061-C043-3106-DE2F-5BF5F948A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B806F0D9-89F9-46EA-E93C-FD61E91FA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478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A5EB4F93-B396-9EA6-39DF-DB2BDBEC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6574CBAF-0497-6461-F48B-6F5C350C5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A6967017-6C34-8AD3-0DF2-FFE8D824B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433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95A8413B-3105-4B26-AE1C-01A654A2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B27E613C-C155-9432-9821-98B572A102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0872E53-A7B2-EF46-0C03-00ED3157C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2133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BC3695B5-A57E-E28B-0663-D63BB849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75C90C8D-4F23-D7CF-A5B1-257BA4C0E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2A1E6BC8-B4CD-843C-F44A-B49146B6C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56099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>
          <a:extLst>
            <a:ext uri="{FF2B5EF4-FFF2-40B4-BE49-F238E27FC236}">
              <a16:creationId xmlns:a16="http://schemas.microsoft.com/office/drawing/2014/main" id="{40948A2E-6022-FC0C-A6AE-F50685AC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>
            <a:extLst>
              <a:ext uri="{FF2B5EF4-FFF2-40B4-BE49-F238E27FC236}">
                <a16:creationId xmlns:a16="http://schemas.microsoft.com/office/drawing/2014/main" id="{22FC9235-1C24-5ECA-A80F-4B02B3150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>
            <a:extLst>
              <a:ext uri="{FF2B5EF4-FFF2-40B4-BE49-F238E27FC236}">
                <a16:creationId xmlns:a16="http://schemas.microsoft.com/office/drawing/2014/main" id="{83629B54-467C-075B-2673-11395925A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8482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6FA82D21-64C3-3AD8-DEE9-E908A8CC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51EF8B3B-53E6-8519-99CE-96F61C463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BCA30F0D-E5B8-8201-084E-40F5043D1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457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40F00E29-DF88-0040-EFAD-B19C9CC7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27C7FDFC-3C34-4C34-4FB7-A3447D1EB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EACFAC16-94B3-92F1-8E06-5C871A877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9481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9C5DF4CF-7B74-7B4C-2086-6A27364F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2F4E39E9-A3AA-1784-22E9-8402FB05F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37E25FF-EB8B-CB63-D359-20A0FC8DB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94811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FB3A0D3A-ABBF-92AE-6025-7A3FE2D7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50787EF3-F3BC-A5D9-A7D3-11439201D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0E3FEB9C-B86A-4499-E21C-A01C61FCE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769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5" r:id="rId6"/>
    <p:sldLayoutId id="2147483670" r:id="rId7"/>
    <p:sldLayoutId id="2147483671" r:id="rId8"/>
    <p:sldLayoutId id="2147483676" r:id="rId9"/>
    <p:sldLayoutId id="214748367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.mysql.com/downloads/workbench/" TargetMode="External"/><Relationship Id="rId3" Type="http://schemas.openxmlformats.org/officeDocument/2006/relationships/hyperlink" Target="https://www.google.com/chrome/" TargetMode="External"/><Relationship Id="rId7" Type="http://schemas.openxmlformats.org/officeDocument/2006/relationships/hyperlink" Target="https://www.eclipse.org/download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mcat.apache.org/download-11.cgi" TargetMode="External"/><Relationship Id="rId5" Type="http://schemas.openxmlformats.org/officeDocument/2006/relationships/hyperlink" Target="https://www.oracle.com/java/technologies/downloads/" TargetMode="External"/><Relationship Id="rId4" Type="http://schemas.openxmlformats.org/officeDocument/2006/relationships/hyperlink" Target="https://code.visualstudio.com/downloa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298368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 3 Day Hands </a:t>
            </a:r>
            <a:r>
              <a:rPr lang="en-IN"/>
              <a:t>On Workshop – Day 1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Web Essentials: </a:t>
            </a:r>
            <a:r>
              <a:rPr lang="en-US" dirty="0">
                <a:solidFill>
                  <a:schemeClr val="tx1"/>
                </a:solidFill>
              </a:rPr>
              <a:t>From Code to Career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128638" y="3088345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797702-149D-4B68-39A5-8264063E9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173" y="957475"/>
            <a:ext cx="1934807" cy="485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2A8F26-609B-017D-56D6-82F84177C447}"/>
              </a:ext>
            </a:extLst>
          </p:cNvPr>
          <p:cNvSpPr txBox="1"/>
          <p:nvPr/>
        </p:nvSpPr>
        <p:spPr>
          <a:xfrm>
            <a:off x="1162173" y="3711611"/>
            <a:ext cx="5676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Welcome !! </a:t>
            </a:r>
            <a:b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Get Ready to Build the Web !!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BFF3E1EB-39E6-C2E9-6B36-30D8D558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2362EAB9-A809-E0DF-069A-145FABAE7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What Will We Learn?</a:t>
            </a:r>
            <a:endParaRPr dirty="0"/>
          </a:p>
        </p:txBody>
      </p:sp>
      <p:sp>
        <p:nvSpPr>
          <p:cNvPr id="1532" name="Google Shape;1532;p39">
            <a:extLst>
              <a:ext uri="{FF2B5EF4-FFF2-40B4-BE49-F238E27FC236}">
                <a16:creationId xmlns:a16="http://schemas.microsoft.com/office/drawing/2014/main" id="{CD9F2C2E-698C-E3B7-E362-0F73C402F5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7071"/>
            <a:ext cx="7704000" cy="2955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A hands-on, </a:t>
            </a:r>
            <a:r>
              <a:rPr lang="en-US" sz="1800" b="1" dirty="0">
                <a:solidFill>
                  <a:schemeClr val="tx1"/>
                </a:solidFill>
              </a:rPr>
              <a:t>beginner-friendly</a:t>
            </a:r>
            <a:r>
              <a:rPr lang="en-US" sz="1800" dirty="0"/>
              <a:t> program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Core technologies of </a:t>
            </a:r>
            <a:r>
              <a:rPr lang="en-US" sz="1800" dirty="0">
                <a:solidFill>
                  <a:schemeClr val="tx1"/>
                </a:solidFill>
              </a:rPr>
              <a:t>modern </a:t>
            </a:r>
            <a:r>
              <a:rPr lang="en-US" sz="1800" b="1" dirty="0">
                <a:solidFill>
                  <a:schemeClr val="tx1"/>
                </a:solidFill>
              </a:rPr>
              <a:t>web development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/>
              <a:t>Build websites </a:t>
            </a:r>
            <a:r>
              <a:rPr lang="en-US" sz="1800" dirty="0"/>
              <a:t>from the ground up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Connect </a:t>
            </a:r>
            <a:r>
              <a:rPr lang="en-US" sz="1800" b="1" dirty="0"/>
              <a:t>Frontend</a:t>
            </a:r>
            <a:r>
              <a:rPr lang="en-US" sz="1800" dirty="0"/>
              <a:t> (what you see) with </a:t>
            </a:r>
            <a:r>
              <a:rPr lang="en-US" sz="1800" b="1" dirty="0"/>
              <a:t>Backend</a:t>
            </a:r>
            <a:r>
              <a:rPr lang="en-US" sz="1800" dirty="0"/>
              <a:t> (the logic)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Understand how data flows between </a:t>
            </a:r>
            <a:r>
              <a:rPr lang="en-US" sz="1800" b="1" dirty="0"/>
              <a:t>browsers, servers, and databases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2C496F8E-CFE5-316C-0751-DBF919191240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8EC4BCA0-6F83-0BC3-932A-AE9E0DBDBF9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E1A5A4F3-98F7-32AF-035C-47D73848227F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643D1A7A-CCFC-F78A-CA14-DC80A34D6994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7C2F9806-B15B-9006-1036-B2E0D532E694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A3EB107C-2B61-9BBB-D400-C2411192A6FB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50FC2E55-3CB6-54AE-24BD-C680CB0A93D9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AEA884D3-EC5C-56C5-D630-E49B16230E54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24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>
          <a:extLst>
            <a:ext uri="{FF2B5EF4-FFF2-40B4-BE49-F238E27FC236}">
              <a16:creationId xmlns:a16="http://schemas.microsoft.com/office/drawing/2014/main" id="{EE03CA6E-7D54-4CA8-53D1-D370E9AB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2">
            <a:extLst>
              <a:ext uri="{FF2B5EF4-FFF2-40B4-BE49-F238E27FC236}">
                <a16:creationId xmlns:a16="http://schemas.microsoft.com/office/drawing/2014/main" id="{0FA140A9-76D3-0A8D-E4DC-C832BC092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Our Toolkit</a:t>
            </a:r>
            <a:endParaRPr dirty="0"/>
          </a:p>
        </p:txBody>
      </p:sp>
      <p:sp>
        <p:nvSpPr>
          <p:cNvPr id="1667" name="Google Shape;1667;p42">
            <a:extLst>
              <a:ext uri="{FF2B5EF4-FFF2-40B4-BE49-F238E27FC236}">
                <a16:creationId xmlns:a16="http://schemas.microsoft.com/office/drawing/2014/main" id="{6665876A-FB22-131E-5BEB-43CBDAA6291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64385" y="2323875"/>
            <a:ext cx="2233849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400" dirty="0"/>
              <a:t>Tools</a:t>
            </a:r>
            <a:endParaRPr sz="2400" dirty="0"/>
          </a:p>
        </p:txBody>
      </p:sp>
      <p:sp>
        <p:nvSpPr>
          <p:cNvPr id="1669" name="Google Shape;1669;p42">
            <a:extLst>
              <a:ext uri="{FF2B5EF4-FFF2-40B4-BE49-F238E27FC236}">
                <a16:creationId xmlns:a16="http://schemas.microsoft.com/office/drawing/2014/main" id="{5525FB98-2630-3149-CAE0-5D31B7F6C10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32123" y="2649975"/>
            <a:ext cx="2233848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dirty="0"/>
              <a:t>JSP (Java Server Pages)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600" dirty="0"/>
              <a:t>MySQL </a:t>
            </a:r>
            <a:r>
              <a:rPr lang="fr-FR" sz="1600" dirty="0" err="1"/>
              <a:t>Database</a:t>
            </a:r>
            <a:endParaRPr sz="1600" dirty="0"/>
          </a:p>
        </p:txBody>
      </p:sp>
      <p:sp>
        <p:nvSpPr>
          <p:cNvPr id="1670" name="Google Shape;1670;p42">
            <a:extLst>
              <a:ext uri="{FF2B5EF4-FFF2-40B4-BE49-F238E27FC236}">
                <a16:creationId xmlns:a16="http://schemas.microsoft.com/office/drawing/2014/main" id="{24EB7ADD-F9DF-2116-7679-0B27A417A60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64388" y="2649975"/>
            <a:ext cx="2479755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Apache Tomcat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VS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MySQL Workbench</a:t>
            </a:r>
            <a:endParaRPr sz="1600" dirty="0"/>
          </a:p>
        </p:txBody>
      </p:sp>
      <p:sp>
        <p:nvSpPr>
          <p:cNvPr id="1672" name="Google Shape;1672;p42">
            <a:extLst>
              <a:ext uri="{FF2B5EF4-FFF2-40B4-BE49-F238E27FC236}">
                <a16:creationId xmlns:a16="http://schemas.microsoft.com/office/drawing/2014/main" id="{A9CB8737-D409-6EC0-6D17-DE4A50E734E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32121" y="2323875"/>
            <a:ext cx="2233849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400" dirty="0"/>
              <a:t>Backend</a:t>
            </a:r>
            <a:endParaRPr sz="2400" dirty="0"/>
          </a:p>
        </p:txBody>
      </p:sp>
      <p:grpSp>
        <p:nvGrpSpPr>
          <p:cNvPr id="1711" name="Google Shape;1711;p42">
            <a:extLst>
              <a:ext uri="{FF2B5EF4-FFF2-40B4-BE49-F238E27FC236}">
                <a16:creationId xmlns:a16="http://schemas.microsoft.com/office/drawing/2014/main" id="{0A606B4E-26F3-DD2B-7F31-D786547CF72C}"/>
              </a:ext>
            </a:extLst>
          </p:cNvPr>
          <p:cNvGrpSpPr/>
          <p:nvPr/>
        </p:nvGrpSpPr>
        <p:grpSpPr>
          <a:xfrm>
            <a:off x="5957793" y="1830303"/>
            <a:ext cx="383616" cy="341173"/>
            <a:chOff x="1558836" y="713303"/>
            <a:chExt cx="475457" cy="476631"/>
          </a:xfrm>
        </p:grpSpPr>
        <p:sp>
          <p:nvSpPr>
            <p:cNvPr id="1712" name="Google Shape;1712;p42">
              <a:extLst>
                <a:ext uri="{FF2B5EF4-FFF2-40B4-BE49-F238E27FC236}">
                  <a16:creationId xmlns:a16="http://schemas.microsoft.com/office/drawing/2014/main" id="{55972047-3F2F-13A9-A69F-D6AE9817512F}"/>
                </a:ext>
              </a:extLst>
            </p:cNvPr>
            <p:cNvSpPr/>
            <p:nvPr/>
          </p:nvSpPr>
          <p:spPr>
            <a:xfrm>
              <a:off x="1611458" y="819874"/>
              <a:ext cx="39855" cy="85128"/>
            </a:xfrm>
            <a:custGeom>
              <a:avLst/>
              <a:gdLst/>
              <a:ahLst/>
              <a:cxnLst/>
              <a:rect l="l" t="t" r="r" b="b"/>
              <a:pathLst>
                <a:path w="1052" h="2247" extrusionOk="0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3" name="Google Shape;1713;p42">
              <a:extLst>
                <a:ext uri="{FF2B5EF4-FFF2-40B4-BE49-F238E27FC236}">
                  <a16:creationId xmlns:a16="http://schemas.microsoft.com/office/drawing/2014/main" id="{521723AB-9740-A96C-6B1E-75136C7E65D5}"/>
                </a:ext>
              </a:extLst>
            </p:cNvPr>
            <p:cNvSpPr/>
            <p:nvPr/>
          </p:nvSpPr>
          <p:spPr>
            <a:xfrm>
              <a:off x="1874873" y="849235"/>
              <a:ext cx="39817" cy="85165"/>
            </a:xfrm>
            <a:custGeom>
              <a:avLst/>
              <a:gdLst/>
              <a:ahLst/>
              <a:cxnLst/>
              <a:rect l="l" t="t" r="r" b="b"/>
              <a:pathLst>
                <a:path w="1051" h="2248" extrusionOk="0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4" name="Google Shape;1714;p42">
              <a:extLst>
                <a:ext uri="{FF2B5EF4-FFF2-40B4-BE49-F238E27FC236}">
                  <a16:creationId xmlns:a16="http://schemas.microsoft.com/office/drawing/2014/main" id="{BC79F3BA-6CDA-76F6-2331-8E861AAD164A}"/>
                </a:ext>
              </a:extLst>
            </p:cNvPr>
            <p:cNvSpPr/>
            <p:nvPr/>
          </p:nvSpPr>
          <p:spPr>
            <a:xfrm>
              <a:off x="1673476" y="818813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5" name="Google Shape;1715;p42">
              <a:extLst>
                <a:ext uri="{FF2B5EF4-FFF2-40B4-BE49-F238E27FC236}">
                  <a16:creationId xmlns:a16="http://schemas.microsoft.com/office/drawing/2014/main" id="{401584B4-52B7-3966-EEAB-C35A6B66F5E0}"/>
                </a:ext>
              </a:extLst>
            </p:cNvPr>
            <p:cNvSpPr/>
            <p:nvPr/>
          </p:nvSpPr>
          <p:spPr>
            <a:xfrm>
              <a:off x="1674348" y="966489"/>
              <a:ext cx="113011" cy="13676"/>
            </a:xfrm>
            <a:custGeom>
              <a:avLst/>
              <a:gdLst/>
              <a:ahLst/>
              <a:cxnLst/>
              <a:rect l="l" t="t" r="r" b="b"/>
              <a:pathLst>
                <a:path w="2983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6" name="Google Shape;1716;p42">
              <a:extLst>
                <a:ext uri="{FF2B5EF4-FFF2-40B4-BE49-F238E27FC236}">
                  <a16:creationId xmlns:a16="http://schemas.microsoft.com/office/drawing/2014/main" id="{D90386AF-8C4B-1E0E-501E-3892A41BA885}"/>
                </a:ext>
              </a:extLst>
            </p:cNvPr>
            <p:cNvSpPr/>
            <p:nvPr/>
          </p:nvSpPr>
          <p:spPr>
            <a:xfrm>
              <a:off x="1673476" y="878368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7" name="Google Shape;1717;p42">
              <a:extLst>
                <a:ext uri="{FF2B5EF4-FFF2-40B4-BE49-F238E27FC236}">
                  <a16:creationId xmlns:a16="http://schemas.microsoft.com/office/drawing/2014/main" id="{3459640E-FCB8-28DE-181D-AFF1F502322A}"/>
                </a:ext>
              </a:extLst>
            </p:cNvPr>
            <p:cNvSpPr/>
            <p:nvPr/>
          </p:nvSpPr>
          <p:spPr>
            <a:xfrm>
              <a:off x="1673476" y="906933"/>
              <a:ext cx="36067" cy="13676"/>
            </a:xfrm>
            <a:custGeom>
              <a:avLst/>
              <a:gdLst/>
              <a:ahLst/>
              <a:cxnLst/>
              <a:rect l="l" t="t" r="r" b="b"/>
              <a:pathLst>
                <a:path w="952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8" name="Google Shape;1718;p42">
              <a:extLst>
                <a:ext uri="{FF2B5EF4-FFF2-40B4-BE49-F238E27FC236}">
                  <a16:creationId xmlns:a16="http://schemas.microsoft.com/office/drawing/2014/main" id="{9C9A7A3B-0082-6995-C69D-F15FD9AB1FA3}"/>
                </a:ext>
              </a:extLst>
            </p:cNvPr>
            <p:cNvSpPr/>
            <p:nvPr/>
          </p:nvSpPr>
          <p:spPr>
            <a:xfrm>
              <a:off x="1771901" y="936673"/>
              <a:ext cx="25156" cy="13714"/>
            </a:xfrm>
            <a:custGeom>
              <a:avLst/>
              <a:gdLst/>
              <a:ahLst/>
              <a:cxnLst/>
              <a:rect l="l" t="t" r="r" b="b"/>
              <a:pathLst>
                <a:path w="664" h="362" extrusionOk="0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19" name="Google Shape;1719;p42">
              <a:extLst>
                <a:ext uri="{FF2B5EF4-FFF2-40B4-BE49-F238E27FC236}">
                  <a16:creationId xmlns:a16="http://schemas.microsoft.com/office/drawing/2014/main" id="{28B39C97-9AAD-ABD2-7AEF-04A13B4A8A64}"/>
                </a:ext>
              </a:extLst>
            </p:cNvPr>
            <p:cNvSpPr/>
            <p:nvPr/>
          </p:nvSpPr>
          <p:spPr>
            <a:xfrm>
              <a:off x="1673931" y="936673"/>
              <a:ext cx="78801" cy="13714"/>
            </a:xfrm>
            <a:custGeom>
              <a:avLst/>
              <a:gdLst/>
              <a:ahLst/>
              <a:cxnLst/>
              <a:rect l="l" t="t" r="r" b="b"/>
              <a:pathLst>
                <a:path w="2080" h="362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0" name="Google Shape;1720;p42">
              <a:extLst>
                <a:ext uri="{FF2B5EF4-FFF2-40B4-BE49-F238E27FC236}">
                  <a16:creationId xmlns:a16="http://schemas.microsoft.com/office/drawing/2014/main" id="{FD19566A-BF70-1443-BE88-268F42F8275B}"/>
                </a:ext>
              </a:extLst>
            </p:cNvPr>
            <p:cNvSpPr/>
            <p:nvPr/>
          </p:nvSpPr>
          <p:spPr>
            <a:xfrm>
              <a:off x="1728447" y="878368"/>
              <a:ext cx="36029" cy="13639"/>
            </a:xfrm>
            <a:custGeom>
              <a:avLst/>
              <a:gdLst/>
              <a:ahLst/>
              <a:cxnLst/>
              <a:rect l="l" t="t" r="r" b="b"/>
              <a:pathLst>
                <a:path w="951" h="360" extrusionOk="0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1" name="Google Shape;1721;p42">
              <a:extLst>
                <a:ext uri="{FF2B5EF4-FFF2-40B4-BE49-F238E27FC236}">
                  <a16:creationId xmlns:a16="http://schemas.microsoft.com/office/drawing/2014/main" id="{80FE1021-4970-2BF3-1025-E1185A4E2832}"/>
                </a:ext>
              </a:extLst>
            </p:cNvPr>
            <p:cNvSpPr/>
            <p:nvPr/>
          </p:nvSpPr>
          <p:spPr>
            <a:xfrm>
              <a:off x="1778152" y="878330"/>
              <a:ext cx="75429" cy="13639"/>
            </a:xfrm>
            <a:custGeom>
              <a:avLst/>
              <a:gdLst/>
              <a:ahLst/>
              <a:cxnLst/>
              <a:rect l="l" t="t" r="r" b="b"/>
              <a:pathLst>
                <a:path w="1991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2" name="Google Shape;1722;p42">
              <a:extLst>
                <a:ext uri="{FF2B5EF4-FFF2-40B4-BE49-F238E27FC236}">
                  <a16:creationId xmlns:a16="http://schemas.microsoft.com/office/drawing/2014/main" id="{409C729E-555F-C7EF-5A73-17DF70893151}"/>
                </a:ext>
              </a:extLst>
            </p:cNvPr>
            <p:cNvSpPr/>
            <p:nvPr/>
          </p:nvSpPr>
          <p:spPr>
            <a:xfrm>
              <a:off x="1729773" y="818699"/>
              <a:ext cx="164383" cy="13714"/>
            </a:xfrm>
            <a:custGeom>
              <a:avLst/>
              <a:gdLst/>
              <a:ahLst/>
              <a:cxnLst/>
              <a:rect l="l" t="t" r="r" b="b"/>
              <a:pathLst>
                <a:path w="4339" h="362" extrusionOk="0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3" name="Google Shape;1723;p42">
              <a:extLst>
                <a:ext uri="{FF2B5EF4-FFF2-40B4-BE49-F238E27FC236}">
                  <a16:creationId xmlns:a16="http://schemas.microsoft.com/office/drawing/2014/main" id="{A5C36525-2F3C-EF52-D4CD-FFCCAB9CE8DC}"/>
                </a:ext>
              </a:extLst>
            </p:cNvPr>
            <p:cNvSpPr/>
            <p:nvPr/>
          </p:nvSpPr>
          <p:spPr>
            <a:xfrm>
              <a:off x="1673097" y="848553"/>
              <a:ext cx="182000" cy="13639"/>
            </a:xfrm>
            <a:custGeom>
              <a:avLst/>
              <a:gdLst/>
              <a:ahLst/>
              <a:cxnLst/>
              <a:rect l="l" t="t" r="r" b="b"/>
              <a:pathLst>
                <a:path w="4804" h="360" extrusionOk="0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4" name="Google Shape;1724;p42">
              <a:extLst>
                <a:ext uri="{FF2B5EF4-FFF2-40B4-BE49-F238E27FC236}">
                  <a16:creationId xmlns:a16="http://schemas.microsoft.com/office/drawing/2014/main" id="{E272A0FB-B3AE-2AEE-D210-444381FE20C7}"/>
                </a:ext>
              </a:extLst>
            </p:cNvPr>
            <p:cNvSpPr/>
            <p:nvPr/>
          </p:nvSpPr>
          <p:spPr>
            <a:xfrm>
              <a:off x="1558836" y="713303"/>
              <a:ext cx="475457" cy="476631"/>
            </a:xfrm>
            <a:custGeom>
              <a:avLst/>
              <a:gdLst/>
              <a:ahLst/>
              <a:cxnLst/>
              <a:rect l="l" t="t" r="r" b="b"/>
              <a:pathLst>
                <a:path w="12550" h="12581" extrusionOk="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5" name="Google Shape;1725;p42">
              <a:extLst>
                <a:ext uri="{FF2B5EF4-FFF2-40B4-BE49-F238E27FC236}">
                  <a16:creationId xmlns:a16="http://schemas.microsoft.com/office/drawing/2014/main" id="{5E3E4E61-ABB7-E70E-3B1B-9AF9B7869B31}"/>
                </a:ext>
              </a:extLst>
            </p:cNvPr>
            <p:cNvSpPr/>
            <p:nvPr/>
          </p:nvSpPr>
          <p:spPr>
            <a:xfrm>
              <a:off x="1906431" y="1036614"/>
              <a:ext cx="48341" cy="63760"/>
            </a:xfrm>
            <a:custGeom>
              <a:avLst/>
              <a:gdLst/>
              <a:ahLst/>
              <a:cxnLst/>
              <a:rect l="l" t="t" r="r" b="b"/>
              <a:pathLst>
                <a:path w="1276" h="1683" extrusionOk="0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6" name="Google Shape;1726;p42">
              <a:extLst>
                <a:ext uri="{FF2B5EF4-FFF2-40B4-BE49-F238E27FC236}">
                  <a16:creationId xmlns:a16="http://schemas.microsoft.com/office/drawing/2014/main" id="{862CE187-386A-1EA5-8F49-C42F5B0ED073}"/>
                </a:ext>
              </a:extLst>
            </p:cNvPr>
            <p:cNvSpPr/>
            <p:nvPr/>
          </p:nvSpPr>
          <p:spPr>
            <a:xfrm>
              <a:off x="1857976" y="1035970"/>
              <a:ext cx="42128" cy="65200"/>
            </a:xfrm>
            <a:custGeom>
              <a:avLst/>
              <a:gdLst/>
              <a:ahLst/>
              <a:cxnLst/>
              <a:rect l="l" t="t" r="r" b="b"/>
              <a:pathLst>
                <a:path w="1112" h="1721" extrusionOk="0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7" name="Google Shape;1727;p42">
              <a:extLst>
                <a:ext uri="{FF2B5EF4-FFF2-40B4-BE49-F238E27FC236}">
                  <a16:creationId xmlns:a16="http://schemas.microsoft.com/office/drawing/2014/main" id="{9C21D287-A4FE-7907-F9A4-BBCE64C0B464}"/>
                </a:ext>
              </a:extLst>
            </p:cNvPr>
            <p:cNvSpPr/>
            <p:nvPr/>
          </p:nvSpPr>
          <p:spPr>
            <a:xfrm>
              <a:off x="1964433" y="1035932"/>
              <a:ext cx="42962" cy="65200"/>
            </a:xfrm>
            <a:custGeom>
              <a:avLst/>
              <a:gdLst/>
              <a:ahLst/>
              <a:cxnLst/>
              <a:rect l="l" t="t" r="r" b="b"/>
              <a:pathLst>
                <a:path w="1134" h="1721" extrusionOk="0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</p:grpSp>
      <p:sp>
        <p:nvSpPr>
          <p:cNvPr id="2" name="Google Shape;1669;p42">
            <a:extLst>
              <a:ext uri="{FF2B5EF4-FFF2-40B4-BE49-F238E27FC236}">
                <a16:creationId xmlns:a16="http://schemas.microsoft.com/office/drawing/2014/main" id="{8C812943-6AA6-4305-8D11-0C2B2BFDA198}"/>
              </a:ext>
            </a:extLst>
          </p:cNvPr>
          <p:cNvSpPr txBox="1">
            <a:spLocks/>
          </p:cNvSpPr>
          <p:nvPr/>
        </p:nvSpPr>
        <p:spPr>
          <a:xfrm>
            <a:off x="931498" y="2664068"/>
            <a:ext cx="2233849" cy="10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HTML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CSS3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JavaScript</a:t>
            </a:r>
            <a:endParaRPr lang="en-US" sz="1600" dirty="0"/>
          </a:p>
        </p:txBody>
      </p:sp>
      <p:sp>
        <p:nvSpPr>
          <p:cNvPr id="3" name="Google Shape;1672;p42">
            <a:extLst>
              <a:ext uri="{FF2B5EF4-FFF2-40B4-BE49-F238E27FC236}">
                <a16:creationId xmlns:a16="http://schemas.microsoft.com/office/drawing/2014/main" id="{568C2B64-2284-81F9-832B-1BCBE2A62A69}"/>
              </a:ext>
            </a:extLst>
          </p:cNvPr>
          <p:cNvSpPr txBox="1">
            <a:spLocks/>
          </p:cNvSpPr>
          <p:nvPr/>
        </p:nvSpPr>
        <p:spPr>
          <a:xfrm>
            <a:off x="931497" y="2337968"/>
            <a:ext cx="2233849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en-IN" sz="2400" dirty="0"/>
              <a:t>Frontend</a:t>
            </a:r>
          </a:p>
        </p:txBody>
      </p:sp>
      <p:grpSp>
        <p:nvGrpSpPr>
          <p:cNvPr id="4" name="Google Shape;1698;p42">
            <a:extLst>
              <a:ext uri="{FF2B5EF4-FFF2-40B4-BE49-F238E27FC236}">
                <a16:creationId xmlns:a16="http://schemas.microsoft.com/office/drawing/2014/main" id="{77561732-9585-6643-6ACC-702E8AE08F2A}"/>
              </a:ext>
            </a:extLst>
          </p:cNvPr>
          <p:cNvGrpSpPr/>
          <p:nvPr/>
        </p:nvGrpSpPr>
        <p:grpSpPr>
          <a:xfrm>
            <a:off x="984415" y="1936878"/>
            <a:ext cx="385114" cy="290896"/>
            <a:chOff x="2335403" y="748460"/>
            <a:chExt cx="477313" cy="406392"/>
          </a:xfrm>
        </p:grpSpPr>
        <p:sp>
          <p:nvSpPr>
            <p:cNvPr id="5" name="Google Shape;1699;p42">
              <a:extLst>
                <a:ext uri="{FF2B5EF4-FFF2-40B4-BE49-F238E27FC236}">
                  <a16:creationId xmlns:a16="http://schemas.microsoft.com/office/drawing/2014/main" id="{37457402-CFC5-2446-0874-E70E9E7ACF0D}"/>
                </a:ext>
              </a:extLst>
            </p:cNvPr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6" name="Google Shape;1700;p42">
              <a:extLst>
                <a:ext uri="{FF2B5EF4-FFF2-40B4-BE49-F238E27FC236}">
                  <a16:creationId xmlns:a16="http://schemas.microsoft.com/office/drawing/2014/main" id="{F92AAAEC-FC6E-A2F2-AB96-400C77A0BDB5}"/>
                </a:ext>
              </a:extLst>
            </p:cNvPr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" name="Google Shape;1701;p42">
              <a:extLst>
                <a:ext uri="{FF2B5EF4-FFF2-40B4-BE49-F238E27FC236}">
                  <a16:creationId xmlns:a16="http://schemas.microsoft.com/office/drawing/2014/main" id="{908E9697-A4DF-3CAE-4A4F-4B6C938B9F97}"/>
                </a:ext>
              </a:extLst>
            </p:cNvPr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8" name="Google Shape;1702;p42">
              <a:extLst>
                <a:ext uri="{FF2B5EF4-FFF2-40B4-BE49-F238E27FC236}">
                  <a16:creationId xmlns:a16="http://schemas.microsoft.com/office/drawing/2014/main" id="{DAF970B5-C1AC-1C5C-D5EB-384ED9A8AEAC}"/>
                </a:ext>
              </a:extLst>
            </p:cNvPr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9" name="Google Shape;1703;p42">
              <a:extLst>
                <a:ext uri="{FF2B5EF4-FFF2-40B4-BE49-F238E27FC236}">
                  <a16:creationId xmlns:a16="http://schemas.microsoft.com/office/drawing/2014/main" id="{65302472-35A8-9ABE-038C-82DC7B1A196D}"/>
                </a:ext>
              </a:extLst>
            </p:cNvPr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0" name="Google Shape;1704;p42">
              <a:extLst>
                <a:ext uri="{FF2B5EF4-FFF2-40B4-BE49-F238E27FC236}">
                  <a16:creationId xmlns:a16="http://schemas.microsoft.com/office/drawing/2014/main" id="{34D65B22-8A4F-F565-F9E3-C45703601E90}"/>
                </a:ext>
              </a:extLst>
            </p:cNvPr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1" name="Google Shape;1705;p42">
              <a:extLst>
                <a:ext uri="{FF2B5EF4-FFF2-40B4-BE49-F238E27FC236}">
                  <a16:creationId xmlns:a16="http://schemas.microsoft.com/office/drawing/2014/main" id="{F949BF5D-64EA-BAA5-5B33-3F6360EBC51A}"/>
                </a:ext>
              </a:extLst>
            </p:cNvPr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2" name="Google Shape;1706;p42">
              <a:extLst>
                <a:ext uri="{FF2B5EF4-FFF2-40B4-BE49-F238E27FC236}">
                  <a16:creationId xmlns:a16="http://schemas.microsoft.com/office/drawing/2014/main" id="{F136B072-5D66-B199-FDFF-05FAB32A8D9E}"/>
                </a:ext>
              </a:extLst>
            </p:cNvPr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3" name="Google Shape;1707;p42">
              <a:extLst>
                <a:ext uri="{FF2B5EF4-FFF2-40B4-BE49-F238E27FC236}">
                  <a16:creationId xmlns:a16="http://schemas.microsoft.com/office/drawing/2014/main" id="{6121E329-1280-11A7-2605-65B10206A636}"/>
                </a:ext>
              </a:extLst>
            </p:cNvPr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4" name="Google Shape;1708;p42">
              <a:extLst>
                <a:ext uri="{FF2B5EF4-FFF2-40B4-BE49-F238E27FC236}">
                  <a16:creationId xmlns:a16="http://schemas.microsoft.com/office/drawing/2014/main" id="{5BF563A2-33BE-BB90-B6EF-9602CB99FD9B}"/>
                </a:ext>
              </a:extLst>
            </p:cNvPr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5" name="Google Shape;1709;p42">
              <a:extLst>
                <a:ext uri="{FF2B5EF4-FFF2-40B4-BE49-F238E27FC236}">
                  <a16:creationId xmlns:a16="http://schemas.microsoft.com/office/drawing/2014/main" id="{233103DC-AC02-D6C1-9E89-E2F16013FDA1}"/>
                </a:ext>
              </a:extLst>
            </p:cNvPr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6" name="Google Shape;1710;p42">
              <a:extLst>
                <a:ext uri="{FF2B5EF4-FFF2-40B4-BE49-F238E27FC236}">
                  <a16:creationId xmlns:a16="http://schemas.microsoft.com/office/drawing/2014/main" id="{1A287A1B-6DE1-AF7F-D50F-82D671FC32CB}"/>
                </a:ext>
              </a:extLst>
            </p:cNvPr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</p:grpSp>
      <p:grpSp>
        <p:nvGrpSpPr>
          <p:cNvPr id="46" name="Google Shape;1673;p42">
            <a:extLst>
              <a:ext uri="{FF2B5EF4-FFF2-40B4-BE49-F238E27FC236}">
                <a16:creationId xmlns:a16="http://schemas.microsoft.com/office/drawing/2014/main" id="{55DF3C64-0493-E048-9F48-6C7F8744E69F}"/>
              </a:ext>
            </a:extLst>
          </p:cNvPr>
          <p:cNvGrpSpPr/>
          <p:nvPr/>
        </p:nvGrpSpPr>
        <p:grpSpPr>
          <a:xfrm>
            <a:off x="3406461" y="1872757"/>
            <a:ext cx="384625" cy="302177"/>
            <a:chOff x="713167" y="740543"/>
            <a:chExt cx="476707" cy="422153"/>
          </a:xfrm>
        </p:grpSpPr>
        <p:sp>
          <p:nvSpPr>
            <p:cNvPr id="47" name="Google Shape;1674;p42">
              <a:extLst>
                <a:ext uri="{FF2B5EF4-FFF2-40B4-BE49-F238E27FC236}">
                  <a16:creationId xmlns:a16="http://schemas.microsoft.com/office/drawing/2014/main" id="{4A5B8F4D-02E6-1097-ED2E-AF4413D06A5C}"/>
                </a:ext>
              </a:extLst>
            </p:cNvPr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8" name="Google Shape;1675;p42">
              <a:extLst>
                <a:ext uri="{FF2B5EF4-FFF2-40B4-BE49-F238E27FC236}">
                  <a16:creationId xmlns:a16="http://schemas.microsoft.com/office/drawing/2014/main" id="{73698925-8EFE-5ADC-5715-7E6444586AC9}"/>
                </a:ext>
              </a:extLst>
            </p:cNvPr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9" name="Google Shape;1676;p42">
              <a:extLst>
                <a:ext uri="{FF2B5EF4-FFF2-40B4-BE49-F238E27FC236}">
                  <a16:creationId xmlns:a16="http://schemas.microsoft.com/office/drawing/2014/main" id="{9309F7B1-2FAC-DCDB-DFAC-222FE79F1A4C}"/>
                </a:ext>
              </a:extLst>
            </p:cNvPr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0" name="Google Shape;1677;p42">
              <a:extLst>
                <a:ext uri="{FF2B5EF4-FFF2-40B4-BE49-F238E27FC236}">
                  <a16:creationId xmlns:a16="http://schemas.microsoft.com/office/drawing/2014/main" id="{DE336EC5-6C5D-9CA9-D76B-2926EC8FF366}"/>
                </a:ext>
              </a:extLst>
            </p:cNvPr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1" name="Google Shape;1678;p42">
              <a:extLst>
                <a:ext uri="{FF2B5EF4-FFF2-40B4-BE49-F238E27FC236}">
                  <a16:creationId xmlns:a16="http://schemas.microsoft.com/office/drawing/2014/main" id="{F020F885-A476-1984-0390-B26C10C8FB7F}"/>
                </a:ext>
              </a:extLst>
            </p:cNvPr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2" name="Google Shape;1679;p42">
              <a:extLst>
                <a:ext uri="{FF2B5EF4-FFF2-40B4-BE49-F238E27FC236}">
                  <a16:creationId xmlns:a16="http://schemas.microsoft.com/office/drawing/2014/main" id="{0CC81892-409D-1E14-6BCB-62CAF8F5E3BF}"/>
                </a:ext>
              </a:extLst>
            </p:cNvPr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3" name="Google Shape;1680;p42">
              <a:extLst>
                <a:ext uri="{FF2B5EF4-FFF2-40B4-BE49-F238E27FC236}">
                  <a16:creationId xmlns:a16="http://schemas.microsoft.com/office/drawing/2014/main" id="{97997D43-4061-AE35-7C2F-756F2AB68D37}"/>
                </a:ext>
              </a:extLst>
            </p:cNvPr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4" name="Google Shape;1681;p42">
              <a:extLst>
                <a:ext uri="{FF2B5EF4-FFF2-40B4-BE49-F238E27FC236}">
                  <a16:creationId xmlns:a16="http://schemas.microsoft.com/office/drawing/2014/main" id="{BC955925-25DE-AD70-E7D7-4BE28289DCB9}"/>
                </a:ext>
              </a:extLst>
            </p:cNvPr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5" name="Google Shape;1682;p42">
              <a:extLst>
                <a:ext uri="{FF2B5EF4-FFF2-40B4-BE49-F238E27FC236}">
                  <a16:creationId xmlns:a16="http://schemas.microsoft.com/office/drawing/2014/main" id="{05D2D2C0-12D7-CFAB-6B9B-9BD0DD163675}"/>
                </a:ext>
              </a:extLst>
            </p:cNvPr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6" name="Google Shape;1683;p42">
              <a:extLst>
                <a:ext uri="{FF2B5EF4-FFF2-40B4-BE49-F238E27FC236}">
                  <a16:creationId xmlns:a16="http://schemas.microsoft.com/office/drawing/2014/main" id="{1B3C269C-CDBA-9794-D9D5-5A2C13589BDB}"/>
                </a:ext>
              </a:extLst>
            </p:cNvPr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7" name="Google Shape;1684;p42">
              <a:extLst>
                <a:ext uri="{FF2B5EF4-FFF2-40B4-BE49-F238E27FC236}">
                  <a16:creationId xmlns:a16="http://schemas.microsoft.com/office/drawing/2014/main" id="{2564556F-ACEE-287F-A178-D913343C01FC}"/>
                </a:ext>
              </a:extLst>
            </p:cNvPr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8" name="Google Shape;1685;p42">
              <a:extLst>
                <a:ext uri="{FF2B5EF4-FFF2-40B4-BE49-F238E27FC236}">
                  <a16:creationId xmlns:a16="http://schemas.microsoft.com/office/drawing/2014/main" id="{BB7D31D2-4081-932B-BED7-59C3893FFFDA}"/>
                </a:ext>
              </a:extLst>
            </p:cNvPr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9" name="Google Shape;1686;p42">
              <a:extLst>
                <a:ext uri="{FF2B5EF4-FFF2-40B4-BE49-F238E27FC236}">
                  <a16:creationId xmlns:a16="http://schemas.microsoft.com/office/drawing/2014/main" id="{466306C8-3826-C1F2-612C-AA09FF31119B}"/>
                </a:ext>
              </a:extLst>
            </p:cNvPr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60" name="Google Shape;1687;p42">
              <a:extLst>
                <a:ext uri="{FF2B5EF4-FFF2-40B4-BE49-F238E27FC236}">
                  <a16:creationId xmlns:a16="http://schemas.microsoft.com/office/drawing/2014/main" id="{5F9911E5-311F-9052-A5BC-1E6C23C1B909}"/>
                </a:ext>
              </a:extLst>
            </p:cNvPr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61" name="Google Shape;1688;p42">
              <a:extLst>
                <a:ext uri="{FF2B5EF4-FFF2-40B4-BE49-F238E27FC236}">
                  <a16:creationId xmlns:a16="http://schemas.microsoft.com/office/drawing/2014/main" id="{C53C9A45-14DC-1AF0-29C6-A8D94B7D8BA8}"/>
                </a:ext>
              </a:extLst>
            </p:cNvPr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62" name="Google Shape;1689;p42">
              <a:extLst>
                <a:ext uri="{FF2B5EF4-FFF2-40B4-BE49-F238E27FC236}">
                  <a16:creationId xmlns:a16="http://schemas.microsoft.com/office/drawing/2014/main" id="{C9FC6C4C-C71A-AAA5-AD03-B54F5108CF28}"/>
                </a:ext>
              </a:extLst>
            </p:cNvPr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63" name="Google Shape;1690;p42">
              <a:extLst>
                <a:ext uri="{FF2B5EF4-FFF2-40B4-BE49-F238E27FC236}">
                  <a16:creationId xmlns:a16="http://schemas.microsoft.com/office/drawing/2014/main" id="{26B3440A-B0ED-FF49-9923-42B9B9797907}"/>
                </a:ext>
              </a:extLst>
            </p:cNvPr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664" name="Google Shape;1691;p42">
              <a:extLst>
                <a:ext uri="{FF2B5EF4-FFF2-40B4-BE49-F238E27FC236}">
                  <a16:creationId xmlns:a16="http://schemas.microsoft.com/office/drawing/2014/main" id="{AE700923-092A-3671-0C02-EBC50DD2C436}"/>
                </a:ext>
              </a:extLst>
            </p:cNvPr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665" name="Google Shape;1692;p42">
              <a:extLst>
                <a:ext uri="{FF2B5EF4-FFF2-40B4-BE49-F238E27FC236}">
                  <a16:creationId xmlns:a16="http://schemas.microsoft.com/office/drawing/2014/main" id="{EA77306E-E426-D931-1A78-5A34B12F34B2}"/>
                </a:ext>
              </a:extLst>
            </p:cNvPr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8" name="Google Shape;1693;p42">
              <a:extLst>
                <a:ext uri="{FF2B5EF4-FFF2-40B4-BE49-F238E27FC236}">
                  <a16:creationId xmlns:a16="http://schemas.microsoft.com/office/drawing/2014/main" id="{165134DC-E14A-7CEE-02ED-D7FB24E1E212}"/>
                </a:ext>
              </a:extLst>
            </p:cNvPr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29" name="Google Shape;1694;p42">
              <a:extLst>
                <a:ext uri="{FF2B5EF4-FFF2-40B4-BE49-F238E27FC236}">
                  <a16:creationId xmlns:a16="http://schemas.microsoft.com/office/drawing/2014/main" id="{84CE1A31-AF1D-DC67-572F-3AEE4F99AC4D}"/>
                </a:ext>
              </a:extLst>
            </p:cNvPr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30" name="Google Shape;1695;p42">
              <a:extLst>
                <a:ext uri="{FF2B5EF4-FFF2-40B4-BE49-F238E27FC236}">
                  <a16:creationId xmlns:a16="http://schemas.microsoft.com/office/drawing/2014/main" id="{46D40E4C-374A-7209-0193-E20B4033E61C}"/>
                </a:ext>
              </a:extLst>
            </p:cNvPr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31" name="Google Shape;1696;p42">
              <a:extLst>
                <a:ext uri="{FF2B5EF4-FFF2-40B4-BE49-F238E27FC236}">
                  <a16:creationId xmlns:a16="http://schemas.microsoft.com/office/drawing/2014/main" id="{55DFB7F4-0318-3E27-2ED6-6B76F0AF1FDB}"/>
                </a:ext>
              </a:extLst>
            </p:cNvPr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732" name="Google Shape;1697;p42">
              <a:extLst>
                <a:ext uri="{FF2B5EF4-FFF2-40B4-BE49-F238E27FC236}">
                  <a16:creationId xmlns:a16="http://schemas.microsoft.com/office/drawing/2014/main" id="{1772F2FE-03F9-0D69-104D-35A1FF502AB4}"/>
                </a:ext>
              </a:extLst>
            </p:cNvPr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</p:grpSp>
    </p:spTree>
    <p:extLst>
      <p:ext uri="{BB962C8B-B14F-4D97-AF65-F5344CB8AC3E}">
        <p14:creationId xmlns:p14="http://schemas.microsoft.com/office/powerpoint/2010/main" val="186005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40BBA33C-FD3B-FBE7-CD76-5D545343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813561B2-C8B9-F127-059B-488040FC1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661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By the End, You Will Be Able To...</a:t>
            </a:r>
            <a:endParaRPr lang="en-IN" dirty="0"/>
          </a:p>
        </p:txBody>
      </p:sp>
      <p:sp>
        <p:nvSpPr>
          <p:cNvPr id="1532" name="Google Shape;1532;p39">
            <a:extLst>
              <a:ext uri="{FF2B5EF4-FFF2-40B4-BE49-F238E27FC236}">
                <a16:creationId xmlns:a16="http://schemas.microsoft.com/office/drawing/2014/main" id="{92A73AC8-0F08-AB24-A0F6-A9F5B35DFA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7071"/>
            <a:ext cx="7704000" cy="2955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Master the building blocks: </a:t>
            </a:r>
            <a:r>
              <a:rPr lang="en-IN" sz="1800" b="1" dirty="0">
                <a:solidFill>
                  <a:schemeClr val="tx1"/>
                </a:solidFill>
              </a:rPr>
              <a:t>HTML, CSS, JavaScript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Design </a:t>
            </a:r>
            <a:r>
              <a:rPr lang="en-IN" sz="1800" b="1" dirty="0"/>
              <a:t>interactive and responsive </a:t>
            </a:r>
            <a:r>
              <a:rPr lang="en-IN" sz="1800" dirty="0"/>
              <a:t>user interfaces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Create </a:t>
            </a:r>
            <a:r>
              <a:rPr lang="en-IN" sz="1800" b="1" dirty="0"/>
              <a:t>dynamic web content </a:t>
            </a:r>
            <a:r>
              <a:rPr lang="en-IN" sz="1800" dirty="0"/>
              <a:t>and handle user input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Connect </a:t>
            </a:r>
            <a:r>
              <a:rPr lang="en-IN" sz="1800" b="1" dirty="0"/>
              <a:t>Frontend &amp; Backend </a:t>
            </a:r>
            <a:r>
              <a:rPr lang="en-IN" sz="1800" dirty="0"/>
              <a:t>using JSP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Use </a:t>
            </a:r>
            <a:r>
              <a:rPr lang="en-IN" sz="1800" b="1" dirty="0"/>
              <a:t>MySQL</a:t>
            </a:r>
            <a:r>
              <a:rPr lang="en-IN" sz="1800" dirty="0"/>
              <a:t> for data storage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Build and deploy </a:t>
            </a:r>
            <a:r>
              <a:rPr lang="en-IN" sz="1800" dirty="0"/>
              <a:t>your own mini web application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FC001F8B-CB54-306F-EC32-BA3A7BFC5AFD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BE14DEFD-F234-53BC-5B5B-DD954D5A50E5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08E1155E-1434-09CE-C52B-34E11D221187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6E5EC2DF-282B-4B49-CAE6-59540ABE3024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188B626B-2AF0-7C66-45AB-F966DD3529F3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56FFF6FF-445D-79AA-ED95-D2133B78E48D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B2718832-53A9-4CAA-31E2-723700952BEE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032F229B-F1F8-825B-3D6A-534AEDAD18D8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508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3C27DBB1-F10B-4A69-E896-6DFECE25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F34A23CA-93B5-318A-BBA8-437132362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The Magic Behind Websites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DD09F-8A40-8FD9-DEF8-0C1FEB9CBBD1}"/>
              </a:ext>
            </a:extLst>
          </p:cNvPr>
          <p:cNvSpPr txBox="1"/>
          <p:nvPr/>
        </p:nvSpPr>
        <p:spPr>
          <a:xfrm>
            <a:off x="946205" y="1494845"/>
            <a:ext cx="71959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Internet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is a global network of computers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They communicate using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HTTP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Your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browser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(Chrome, Edge) requests web pages from a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server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Let's break down what happens when you type a URL...</a:t>
            </a:r>
          </a:p>
        </p:txBody>
      </p:sp>
    </p:spTree>
    <p:extLst>
      <p:ext uri="{BB962C8B-B14F-4D97-AF65-F5344CB8AC3E}">
        <p14:creationId xmlns:p14="http://schemas.microsoft.com/office/powerpoint/2010/main" val="337432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4563AB53-9ED5-6359-B09C-B757DF69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3840853A-4D56-E163-878D-F82378AF1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What Happens When You Visit a Website?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19BD40-0536-F420-34DD-47AFC511D767}"/>
              </a:ext>
            </a:extLst>
          </p:cNvPr>
          <p:cNvSpPr txBox="1"/>
          <p:nvPr/>
        </p:nvSpPr>
        <p:spPr>
          <a:xfrm>
            <a:off x="811033" y="1796995"/>
            <a:ext cx="752193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You type: www.google.com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DNS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converts it to an IP address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Your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browser sends a request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to the server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server processes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the request (may talk to a database)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server sends back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HTML, CSS, JS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Your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browser renders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the page</a:t>
            </a:r>
          </a:p>
        </p:txBody>
      </p:sp>
    </p:spTree>
    <p:extLst>
      <p:ext uri="{BB962C8B-B14F-4D97-AF65-F5344CB8AC3E}">
        <p14:creationId xmlns:p14="http://schemas.microsoft.com/office/powerpoint/2010/main" val="51922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353AB60E-D5CA-8AA3-8D70-9F88B44B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5F8C2FE9-109A-C28C-E127-7F98FA9EC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The Foundation of the Web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17B90F-12B7-9093-9E3C-774775BB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31" y="2982494"/>
            <a:ext cx="4567937" cy="171598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E4870-B5E7-2464-FF07-92B94441F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926316"/>
              </p:ext>
            </p:extLst>
          </p:nvPr>
        </p:nvGraphicFramePr>
        <p:xfrm>
          <a:off x="832057" y="1174959"/>
          <a:ext cx="7681912" cy="147650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97675">
                  <a:extLst>
                    <a:ext uri="{9D8B030D-6E8A-4147-A177-3AD203B41FA5}">
                      <a16:colId xmlns:a16="http://schemas.microsoft.com/office/drawing/2014/main" val="2828938051"/>
                    </a:ext>
                  </a:extLst>
                </a:gridCol>
                <a:gridCol w="6184237">
                  <a:extLst>
                    <a:ext uri="{9D8B030D-6E8A-4147-A177-3AD203B41FA5}">
                      <a16:colId xmlns:a16="http://schemas.microsoft.com/office/drawing/2014/main" val="81006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50" b="1" dirty="0">
                          <a:effectLst/>
                        </a:rPr>
                        <a:t>Component</a:t>
                      </a:r>
                      <a:endParaRPr lang="en-IN" sz="105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50" b="1">
                          <a:effectLst/>
                        </a:rPr>
                        <a:t>Description</a:t>
                      </a:r>
                      <a:endParaRPr lang="en-IN" sz="105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33329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50" b="1" dirty="0">
                          <a:effectLst/>
                        </a:rPr>
                        <a:t>Client (Frontend)</a:t>
                      </a:r>
                      <a:endParaRPr lang="en-IN" sz="105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>
                          <a:effectLst/>
                        </a:rPr>
                        <a:t>Your browser. Displays content &amp; handles user actions (clicks, forms).</a:t>
                      </a:r>
                      <a:endParaRPr lang="en-US" sz="105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8375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50" b="1" dirty="0">
                          <a:effectLst/>
                        </a:rPr>
                        <a:t>Server (Backend)</a:t>
                      </a:r>
                      <a:endParaRPr lang="en-IN" sz="105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50" b="0" dirty="0">
                          <a:effectLst/>
                        </a:rPr>
                        <a:t>Where the logic lives. Processes requests and decides what information to send back.</a:t>
                      </a:r>
                      <a:endParaRPr lang="en-US" sz="105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6164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50" b="1">
                          <a:effectLst/>
                        </a:rPr>
                        <a:t>Database</a:t>
                      </a:r>
                      <a:endParaRPr lang="en-IN" sz="105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50" b="0" dirty="0">
                          <a:effectLst/>
                        </a:rPr>
                        <a:t>Stores application data (user details, products, etc.).</a:t>
                      </a:r>
                      <a:endParaRPr lang="en-IN" sz="105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5356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42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A50B212-2C9E-8D88-71A6-F32527A0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6D007D3-C0D0-E68A-028D-935099881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The Request-Response Cycle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F4A7E-5452-E666-8B3F-DA4997527822}"/>
              </a:ext>
            </a:extLst>
          </p:cNvPr>
          <p:cNvSpPr txBox="1"/>
          <p:nvPr/>
        </p:nvSpPr>
        <p:spPr>
          <a:xfrm>
            <a:off x="946205" y="1494845"/>
            <a:ext cx="7195931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User Action:</a:t>
            </a:r>
            <a:r>
              <a:rPr lang="en-IN" sz="1800" dirty="0"/>
              <a:t> Clicks a button or submits a form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Request Sent:</a:t>
            </a:r>
            <a:r>
              <a:rPr lang="en-IN" sz="1800" dirty="0"/>
              <a:t> Browser sends HTTP request to server (e.g., /</a:t>
            </a:r>
            <a:r>
              <a:rPr lang="en-IN" sz="1800" dirty="0" err="1"/>
              <a:t>login.jsp</a:t>
            </a:r>
            <a:r>
              <a:rPr lang="en-IN" sz="18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Server Processes:</a:t>
            </a:r>
            <a:r>
              <a:rPr lang="en-IN" sz="1800" dirty="0"/>
              <a:t> JSP + Java connect to MySQL, get/store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Response Returned:</a:t>
            </a:r>
            <a:r>
              <a:rPr lang="en-IN" sz="1800" dirty="0"/>
              <a:t> Server sends back HTML, JSON, or a redirect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/>
              <a:t>Browser Updates:</a:t>
            </a:r>
            <a:r>
              <a:rPr lang="en-IN" sz="1800" dirty="0"/>
              <a:t> User sees the result</a:t>
            </a:r>
          </a:p>
        </p:txBody>
      </p:sp>
    </p:spTree>
    <p:extLst>
      <p:ext uri="{BB962C8B-B14F-4D97-AF65-F5344CB8AC3E}">
        <p14:creationId xmlns:p14="http://schemas.microsoft.com/office/powerpoint/2010/main" val="269242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AD13ECE1-EBE0-E701-2BAA-D5871309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EA83F6F0-B014-8E38-B190-35D804CD5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Becoming a Full-Stack Developer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785148C5-B0A4-B4ED-2B7B-1537AA9E50EA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83713474-D56D-9C46-0DA1-F5B36199BE2D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D878D24-6CB1-01E4-76FD-6857DF7C6BD4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AB488C37-5FBB-4543-8C0D-45784E22D830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8399B7B3-A983-7C84-ACEC-3969EC651ABD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8F288922-2F6A-1052-3EDC-EDCE38E66986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2FF7F10-0D5E-5B08-B472-A2D9223301A3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EA0B12B4-15EA-0B6B-5665-8550F673F8B6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BD977D5-CD4A-4D56-3711-972AE3470673}"/>
              </a:ext>
            </a:extLst>
          </p:cNvPr>
          <p:cNvSpPr txBox="1"/>
          <p:nvPr/>
        </p:nvSpPr>
        <p:spPr>
          <a:xfrm>
            <a:off x="826936" y="1335819"/>
            <a:ext cx="7370859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Frontend Developer: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Builds what users see and interact with (UI/UX).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Backend Developer: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Builds the server, database, and application logic.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Full-Stack Developer: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Does both!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In this workshop: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You will work on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both sides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200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775AEA08-7265-0A9A-B445-FA15E227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05BDBAFC-125C-4152-8F60-7DE8DDFCE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Connecting the Dots: </a:t>
            </a:r>
            <a:br>
              <a:rPr lang="en-US" dirty="0"/>
            </a:br>
            <a:r>
              <a:rPr lang="en-US" dirty="0"/>
              <a:t>A Registration Flow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0001E-D168-6F89-A9F5-4BCEAE271B2B}"/>
              </a:ext>
            </a:extLst>
          </p:cNvPr>
          <p:cNvSpPr txBox="1"/>
          <p:nvPr/>
        </p:nvSpPr>
        <p:spPr>
          <a:xfrm>
            <a:off x="720000" y="1783919"/>
            <a:ext cx="770400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You fill a form (HTML + CSS)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JavaScript validates your input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 form is sent to a JSP page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JSP connects to MySQL and stores your data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The server sends a "Success!" back to your browser</a:t>
            </a:r>
          </a:p>
        </p:txBody>
      </p:sp>
    </p:spTree>
    <p:extLst>
      <p:ext uri="{BB962C8B-B14F-4D97-AF65-F5344CB8AC3E}">
        <p14:creationId xmlns:p14="http://schemas.microsoft.com/office/powerpoint/2010/main" val="168710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AAEDB454-2066-01BD-6790-026694FC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>
            <a:extLst>
              <a:ext uri="{FF2B5EF4-FFF2-40B4-BE49-F238E27FC236}">
                <a16:creationId xmlns:a16="http://schemas.microsoft.com/office/drawing/2014/main" id="{E9159210-7019-BAD1-B82F-AE8592604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Setting Up Your Development Environment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27706-18CB-A87C-33F4-628FCDC7AE83}"/>
              </a:ext>
            </a:extLst>
          </p:cNvPr>
          <p:cNvSpPr txBox="1"/>
          <p:nvPr/>
        </p:nvSpPr>
        <p:spPr>
          <a:xfrm>
            <a:off x="720000" y="1783919"/>
            <a:ext cx="7704000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Web Browser: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Google Chrome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Code Editor: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Visual Studio Code (VS Code)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Java JDK: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Version 17 or above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Web Server: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6"/>
              </a:rPr>
              <a:t>Apache Tomcat 11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IDE: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7"/>
              </a:rPr>
              <a:t>Eclipse for Enterprise Java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Database: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  <a:hlinkClick r:id="rId8"/>
              </a:rPr>
              <a:t>MySQL Server &amp; MySQL Workbench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93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37DACC26-2173-212D-1CE7-22E5B41B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5E7824F5-63C7-FD33-6EE6-42DB780A4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HTML – Hyper Text Markup Language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F5F72-FE67-B129-0770-60F828BD5BFF}"/>
              </a:ext>
            </a:extLst>
          </p:cNvPr>
          <p:cNvSpPr txBox="1"/>
          <p:nvPr/>
        </p:nvSpPr>
        <p:spPr>
          <a:xfrm>
            <a:off x="812800" y="1706880"/>
            <a:ext cx="761120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Hyper Text: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Text that links to other text.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Markup Language: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Uses tags to define structure and meaning.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It's the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skeleton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of a web page.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Defines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what to display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and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how it's organized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065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C9BDF0C0-D840-2929-9A7D-BD66D5A8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2D5C1A5-8DBC-5451-3689-85E8474AD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From Code to Web Page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0E2E4-D96B-5617-1F5D-8A39651DB5D4}"/>
              </a:ext>
            </a:extLst>
          </p:cNvPr>
          <p:cNvSpPr txBox="1"/>
          <p:nvPr/>
        </p:nvSpPr>
        <p:spPr>
          <a:xfrm>
            <a:off x="720000" y="1506458"/>
            <a:ext cx="770400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Browser reads the HTML file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Interprets tags and builds a </a:t>
            </a:r>
            <a:r>
              <a:rPr lang="en-US" sz="1800" b="1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DOM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 (Document Object Model)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DOM is styled with </a:t>
            </a:r>
            <a:r>
              <a:rPr lang="en-US" sz="1800" b="1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CSS</a:t>
            </a:r>
            <a:endParaRPr lang="en-US" sz="1800" dirty="0"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Made interactive with </a:t>
            </a:r>
            <a:r>
              <a:rPr lang="en-US" sz="1800" b="1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JavaScript</a:t>
            </a:r>
            <a:endParaRPr lang="en-US" sz="1800" dirty="0"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Browser </a:t>
            </a:r>
            <a:r>
              <a:rPr lang="en-US" sz="1800" b="1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renders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 the final page</a:t>
            </a:r>
          </a:p>
        </p:txBody>
      </p:sp>
    </p:spTree>
    <p:extLst>
      <p:ext uri="{BB962C8B-B14F-4D97-AF65-F5344CB8AC3E}">
        <p14:creationId xmlns:p14="http://schemas.microsoft.com/office/powerpoint/2010/main" val="3924447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83AFACED-07BA-06D0-9C40-67CAC801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E25A645D-E782-9F18-1358-381A28C28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Anatomy of an HTML Page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29A2E07C-7EBF-1655-3C54-E585B3019218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C6627161-CF94-69D3-6962-E126CF81C5E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C64BA7D6-2300-F33C-083F-5D3E3632D65C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1CE7CC9E-4697-C41E-5BF6-9EFC8243F3B8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B704F1BB-48B5-3A6E-B805-896CFFD4CB0B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65D175BD-55E0-6D40-BE78-C7F62275C80B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906D06D8-7877-2671-74F4-5B090ABC2068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4891A389-BA36-36BA-FB92-6618590239E2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861C315-D0B5-7497-FB15-98AE0CFA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777" y="1144043"/>
            <a:ext cx="3550446" cy="363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93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820913D4-B399-9C45-42B1-3DB2DD678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92211E79-931B-510E-1913-9895DAAD4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Essential HTML Building Blocks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E3773-74E7-26A6-A3EB-47B41F2B8133}"/>
              </a:ext>
            </a:extLst>
          </p:cNvPr>
          <p:cNvSpPr txBox="1"/>
          <p:nvPr/>
        </p:nvSpPr>
        <p:spPr>
          <a:xfrm>
            <a:off x="946205" y="1494845"/>
            <a:ext cx="7195931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Headings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&lt;h1&gt;, &lt;h2&gt;, &lt;h3&gt;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Paragraph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&lt;p&gt;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Links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&lt;a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href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="..."&gt;Visit&lt;/a&gt;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Images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img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src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="image.jpg" alt="Description"&gt;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Lists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&lt;ul&gt;, &lt;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ol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&gt;, &lt;li&gt;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Division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&lt;div&gt;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Span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 &lt;span&gt;</a:t>
            </a:r>
          </a:p>
        </p:txBody>
      </p:sp>
    </p:spTree>
    <p:extLst>
      <p:ext uri="{BB962C8B-B14F-4D97-AF65-F5344CB8AC3E}">
        <p14:creationId xmlns:p14="http://schemas.microsoft.com/office/powerpoint/2010/main" val="1812651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385EF651-0BB4-7E2E-1455-3535935F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586BC8AF-D48B-6D37-7A82-26603F1BC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Giving Meaning to Your Content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C85C01DD-E7C6-C4BC-4371-BE928BBAEE54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627754A-8F38-909C-D312-1FC8558C29A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F57B318-7CB7-20E2-E8C6-0F9483593127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FEE87880-43BF-DD2E-F75B-55A78BDA1CE2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DEFC0D07-266A-6419-78D3-7E58A9055C56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165630A1-7031-442D-F288-A052FB6E45ED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FEEB3769-B76E-522E-AEB7-81AAEFDBFE8F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F7AB97EA-1150-4482-1557-160AA7554A5A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A105A4-9B9C-5D32-EC17-D23BAC839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205502"/>
              </p:ext>
            </p:extLst>
          </p:nvPr>
        </p:nvGraphicFramePr>
        <p:xfrm>
          <a:off x="1642717" y="1266565"/>
          <a:ext cx="5858565" cy="278168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74517846"/>
                    </a:ext>
                  </a:extLst>
                </a:gridCol>
                <a:gridCol w="4334565">
                  <a:extLst>
                    <a:ext uri="{9D8B030D-6E8A-4147-A177-3AD203B41FA5}">
                      <a16:colId xmlns:a16="http://schemas.microsoft.com/office/drawing/2014/main" val="204918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Tag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Purpose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69618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&lt;header&gt;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Top section or site header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3289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&lt;nav&gt;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Navigation links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098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&lt;section&gt;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Thematic grouping of content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3594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&lt;article&gt;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Self-contained content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3114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&lt;footer&gt;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Footer or copyright info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6085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&lt;main&gt;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Main page content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6274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27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2D3CADFE-7338-25BB-4B3D-41C02EFE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389EF340-6CDB-3C48-2A76-795D2D4C7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Collecting User Input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E44521-C3C3-4F35-941D-F19EDBE66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81" y="1649377"/>
            <a:ext cx="7674838" cy="184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31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428DCE0C-BE8A-445C-8247-0BA8845A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>
            <a:extLst>
              <a:ext uri="{FF2B5EF4-FFF2-40B4-BE49-F238E27FC236}">
                <a16:creationId xmlns:a16="http://schemas.microsoft.com/office/drawing/2014/main" id="{74C05810-64CF-6259-1471-52503BE52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CSS – Cascading Style Sheets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F6928-0F0C-2F31-D1EB-04FAAF929E76}"/>
              </a:ext>
            </a:extLst>
          </p:cNvPr>
          <p:cNvSpPr txBox="1"/>
          <p:nvPr/>
        </p:nvSpPr>
        <p:spPr>
          <a:xfrm>
            <a:off x="720000" y="1397839"/>
            <a:ext cx="77040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Controls the 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presentation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(look and feel).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Defines colors, sizes, layouts, animations.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Cascading: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Priority order of styles.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Style Sheets: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A set of styling rules.</a:t>
            </a:r>
          </a:p>
        </p:txBody>
      </p:sp>
    </p:spTree>
    <p:extLst>
      <p:ext uri="{BB962C8B-B14F-4D97-AF65-F5344CB8AC3E}">
        <p14:creationId xmlns:p14="http://schemas.microsoft.com/office/powerpoint/2010/main" val="76083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84FC4A10-7AB5-E6D1-F5FB-CA1238B9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281D116D-C906-1D0A-BFF5-B58B3634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How to Apply Styles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72FEE0-84C1-5674-195A-609550DF743C}"/>
              </a:ext>
            </a:extLst>
          </p:cNvPr>
          <p:cNvSpPr txBox="1"/>
          <p:nvPr/>
        </p:nvSpPr>
        <p:spPr>
          <a:xfrm>
            <a:off x="812800" y="1706880"/>
            <a:ext cx="761120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Inline CSS: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Inside an HTML tag.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&lt;p style="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: blue;"&gt;Text&lt;/p&gt;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Internal CSS: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Inside &lt;style&gt; tag in &lt;head&gt;.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External CSS: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 a separate .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css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file (Recommended).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&lt;link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rel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="stylesheet"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href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="styles.css"&gt;</a:t>
            </a:r>
          </a:p>
        </p:txBody>
      </p:sp>
    </p:spTree>
    <p:extLst>
      <p:ext uri="{BB962C8B-B14F-4D97-AF65-F5344CB8AC3E}">
        <p14:creationId xmlns:p14="http://schemas.microsoft.com/office/powerpoint/2010/main" val="3211989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EA40FA7-B2ED-BE94-DD24-6F5C4E1D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830C2B33-22F0-FABD-AAE3-7236E4E1D2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The Language of Style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C1FA0-2A10-174C-8109-2816264D730E}"/>
              </a:ext>
            </a:extLst>
          </p:cNvPr>
          <p:cNvSpPr txBox="1"/>
          <p:nvPr/>
        </p:nvSpPr>
        <p:spPr>
          <a:xfrm>
            <a:off x="720000" y="1221978"/>
            <a:ext cx="7704000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rgbClr val="00B050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	selector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{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 	   </a:t>
            </a:r>
            <a:r>
              <a:rPr lang="en-US" sz="1800" dirty="0">
                <a:solidFill>
                  <a:srgbClr val="C00000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property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: value;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	}</a:t>
            </a:r>
            <a:b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</a:br>
            <a:r>
              <a:rPr lang="en-US" sz="1600" i="1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Example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  <a:b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	</a:t>
            </a:r>
            <a:r>
              <a:rPr lang="en-US" sz="1800" dirty="0">
                <a:solidFill>
                  <a:srgbClr val="00B050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h1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   	   </a:t>
            </a:r>
            <a:r>
              <a:rPr lang="en-US" sz="1800" dirty="0">
                <a:solidFill>
                  <a:srgbClr val="C00000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color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: </a:t>
            </a:r>
            <a:r>
              <a:rPr lang="en-US" sz="1800" dirty="0" err="1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darkblue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00000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   	   text-align</a:t>
            </a: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: center;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02053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0264B845-C58E-20E1-A3FC-7502019F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9EF3146C-7165-7A82-77E7-7A4891D8E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What Can You Style?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23F2E44A-9790-09F7-A62E-6635B535506E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75CEAA9-07F5-4C3D-0808-45ECBE7CCD6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89A07A9E-E72B-42D0-BCC0-C5E9EE3EC5CF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4F85FB97-A9BF-9C69-7AD8-79DC938B0AEF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4744D0C1-C897-9AED-FF90-CCBAB84F19AD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0D39F43F-AC7C-3464-0569-E3E40A0AD09E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F63056A-FE59-CCCC-A9E2-1222BABE5D16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A9BFE3AB-E6CC-727A-CF15-60F7DEC94522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92541E-5669-0360-50E6-93F46A0BAE31}"/>
              </a:ext>
            </a:extLst>
          </p:cNvPr>
          <p:cNvSpPr txBox="1"/>
          <p:nvPr/>
        </p:nvSpPr>
        <p:spPr>
          <a:xfrm>
            <a:off x="757414" y="1363075"/>
            <a:ext cx="77040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Text: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color, font-size, text-align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Background: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background-color, background-image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Box Model: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margin, padding, border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Layout: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display, position, flexbox, grid</a:t>
            </a:r>
          </a:p>
        </p:txBody>
      </p:sp>
    </p:spTree>
    <p:extLst>
      <p:ext uri="{BB962C8B-B14F-4D97-AF65-F5344CB8AC3E}">
        <p14:creationId xmlns:p14="http://schemas.microsoft.com/office/powerpoint/2010/main" val="2228671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81D61596-EAAB-42EB-8280-E5F71DDD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8A0C3CD0-0208-6516-9329-1CE312615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661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dirty="0"/>
              <a:t>Understanding Element Layout</a:t>
            </a:r>
          </a:p>
        </p:txBody>
      </p:sp>
      <p:sp>
        <p:nvSpPr>
          <p:cNvPr id="1532" name="Google Shape;1532;p39">
            <a:extLst>
              <a:ext uri="{FF2B5EF4-FFF2-40B4-BE49-F238E27FC236}">
                <a16:creationId xmlns:a16="http://schemas.microsoft.com/office/drawing/2014/main" id="{6814A8A4-3C88-288A-4558-CF178B7059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7071"/>
            <a:ext cx="7704000" cy="1917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Every element is a box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Content</a:t>
            </a:r>
            <a:r>
              <a:rPr lang="en-US" sz="1800" dirty="0"/>
              <a:t> (The core)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Padding</a:t>
            </a:r>
            <a:r>
              <a:rPr lang="en-US" sz="1800" dirty="0"/>
              <a:t> (Space inside the border)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Border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Margin</a:t>
            </a:r>
            <a:r>
              <a:rPr lang="en-US" sz="1800" dirty="0"/>
              <a:t> (Space outside the border)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0EBD2C69-234A-BF44-B8CD-674E80472A12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A2ADE57A-51F9-60DE-ED07-8BB473F6CBC5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D4E84816-4C6E-0BF8-3491-B6EB84335D7D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DE816F87-E276-6B32-E7D8-DD8645B991FD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5177A05A-49F3-8C42-062C-2B32B320F00A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B390337F-F814-DED4-621C-88B843291A14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E456FBA6-63AA-0B34-056F-4ACAB0909D7D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B0784B0B-C5AA-12F2-B6BB-59305CCB4D7B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074" name="Picture 2" descr="Learn CSS Box Model and its Properties with Examples">
            <a:extLst>
              <a:ext uri="{FF2B5EF4-FFF2-40B4-BE49-F238E27FC236}">
                <a16:creationId xmlns:a16="http://schemas.microsoft.com/office/drawing/2014/main" id="{5C4F6562-3B46-28F4-B62E-E2F450BD0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447" y="2571750"/>
            <a:ext cx="2907665" cy="203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06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0A531DE-89FC-70B8-371D-27CB53AE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4C187DE-542D-83B3-DB55-84397EF13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JavaScript – Adding Behavior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C645F-495A-F91C-515A-BCBE268D0208}"/>
              </a:ext>
            </a:extLst>
          </p:cNvPr>
          <p:cNvSpPr txBox="1"/>
          <p:nvPr/>
        </p:nvSpPr>
        <p:spPr>
          <a:xfrm>
            <a:off x="974034" y="1606605"/>
            <a:ext cx="71959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Makes web pages </a:t>
            </a: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dynamic and interactive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HTML = Structure, CSS = Style, </a:t>
            </a: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JS = Behavior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Handles user events (clicks, form submissions).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Can manipulate HTML &amp; CSS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673483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D1BFD100-5C72-2BD2-1C20-5E3B3788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7A7DB49A-CAEF-6DA0-AE2D-A9807FB4C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Placing Your Code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B88F0-AA20-5F56-F49C-191C8F3DFBA7}"/>
              </a:ext>
            </a:extLst>
          </p:cNvPr>
          <p:cNvSpPr txBox="1"/>
          <p:nvPr/>
        </p:nvSpPr>
        <p:spPr>
          <a:xfrm>
            <a:off x="811033" y="1349955"/>
            <a:ext cx="7521934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Inline: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Inside HTML tags (onclick).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Internal: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Inside &lt;script&gt; tags in HTML.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External: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In a separate .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file (Best Practice).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&lt;script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src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="script.js"&gt;&lt;/script&gt;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62605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F72EF37C-7655-0B5A-0552-B745FB0D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85E5B80D-1871-A749-7658-0516A52A7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Syntax &amp; Variables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8F75F4-A447-AC48-14E7-3788CE1E030A}"/>
              </a:ext>
            </a:extLst>
          </p:cNvPr>
          <p:cNvSpPr txBox="1"/>
          <p:nvPr/>
        </p:nvSpPr>
        <p:spPr>
          <a:xfrm>
            <a:off x="974034" y="3526845"/>
            <a:ext cx="71959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let: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For variables that can change.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const: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For constant values.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D92F4-9CC0-B2A4-5C13-9EB35A86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99" y="1310855"/>
            <a:ext cx="4826000" cy="192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58C2C191-D2CB-1BE4-A299-7373DFE5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7E2D0472-528E-9289-AB07-AAA710032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Types of Data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93AD6594-0EB7-3E4D-D636-49260E8F5854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ED0FBDF2-9879-BEA3-EC40-2F891BB1A556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F26CCE44-E5CD-5E79-E09B-24B8FBF31B3F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4AD66C7B-2B51-A0C2-2180-B166D8535B80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B777D451-D36E-C1D1-7F96-584DBAD4B28F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AC9B6D08-348C-48F9-6502-7625A3E747CC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42B201FB-A640-E984-06D5-48EAC67D0CBC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E93D377A-1973-3ADC-8DC1-014605EA131E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51AF9A-D6EE-FD00-200D-21836498A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794247"/>
              </p:ext>
            </p:extLst>
          </p:nvPr>
        </p:nvGraphicFramePr>
        <p:xfrm>
          <a:off x="720000" y="1381705"/>
          <a:ext cx="7814400" cy="238429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59040">
                  <a:extLst>
                    <a:ext uri="{9D8B030D-6E8A-4147-A177-3AD203B41FA5}">
                      <a16:colId xmlns:a16="http://schemas.microsoft.com/office/drawing/2014/main" val="302048117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609834668"/>
                    </a:ext>
                  </a:extLst>
                </a:gridCol>
                <a:gridCol w="3190240">
                  <a:extLst>
                    <a:ext uri="{9D8B030D-6E8A-4147-A177-3AD203B41FA5}">
                      <a16:colId xmlns:a16="http://schemas.microsoft.com/office/drawing/2014/main" val="3035712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Type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8948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String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"Hello"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Text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23170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Number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Numeric value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98874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Boolean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true / false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Logical value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33483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Object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 name: "John" }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Key-value pairs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49478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Array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[1, 2, 3]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List of items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80962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8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143E429F-41EC-A0BC-47DA-1E7AB2F2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28771613-09F4-92A5-4BD4-F99CF8F32D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Reusable Code Blocks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98EC7-F571-73B5-3A91-2674939F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03" y="1596390"/>
            <a:ext cx="7568794" cy="1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6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F349D3D3-B20D-7E6D-A12D-076339BB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>
            <a:extLst>
              <a:ext uri="{FF2B5EF4-FFF2-40B4-BE49-F238E27FC236}">
                <a16:creationId xmlns:a16="http://schemas.microsoft.com/office/drawing/2014/main" id="{2CE0E3A2-B295-9CBF-7EE1-80E4A3840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Changing the Page Dynamically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55C8B-C5B3-4336-BB4B-806E7534B874}"/>
              </a:ext>
            </a:extLst>
          </p:cNvPr>
          <p:cNvSpPr txBox="1"/>
          <p:nvPr/>
        </p:nvSpPr>
        <p:spPr>
          <a:xfrm>
            <a:off x="720000" y="1357199"/>
            <a:ext cx="77040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DOM = Document Object Model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 (Tree structure of your HTML).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document.</a:t>
            </a:r>
            <a:r>
              <a:rPr lang="en-IN" sz="18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getElementById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IN" sz="1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").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innerHTML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= "</a:t>
            </a:r>
            <a:r>
              <a:rPr lang="en-IN" sz="1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New Text!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document.</a:t>
            </a:r>
            <a:r>
              <a:rPr lang="en-IN" sz="1800" dirty="0" err="1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getElementById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IN" sz="1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").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style.color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= "</a:t>
            </a:r>
            <a:r>
              <a:rPr lang="en-IN" sz="1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1137704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7AB80421-1A47-4C79-2F61-38138BDE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59347D5E-747C-F2A7-673A-40B9236BB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Responding to User Actions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2373F-EF61-6CA2-287D-0E111A604FEB}"/>
              </a:ext>
            </a:extLst>
          </p:cNvPr>
          <p:cNvSpPr txBox="1"/>
          <p:nvPr/>
        </p:nvSpPr>
        <p:spPr>
          <a:xfrm>
            <a:off x="766400" y="1422037"/>
            <a:ext cx="76112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document.</a:t>
            </a:r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getElementById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US" sz="1800" dirty="0" err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myBtn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").</a:t>
            </a:r>
            <a:r>
              <a:rPr lang="en-US" sz="1800" dirty="0" err="1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addEventListener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US" sz="180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click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", </a:t>
            </a:r>
            <a:r>
              <a:rPr lang="en-US" sz="1800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function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alert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("Button was clicked!");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105711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AE827B45-13CC-65F5-7BDD-DECFD29A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C0492605-EC58-E68B-1669-A637852F3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Validating Data Before Sending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0C8A72-AD39-843D-6E36-8ACCF207F111}"/>
              </a:ext>
            </a:extLst>
          </p:cNvPr>
          <p:cNvSpPr txBox="1"/>
          <p:nvPr/>
        </p:nvSpPr>
        <p:spPr>
          <a:xfrm>
            <a:off x="720000" y="1506458"/>
            <a:ext cx="7704000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Check if fields are empty.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Validate email format.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Confirm passwords match.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Show error messages to the user.</a:t>
            </a:r>
          </a:p>
        </p:txBody>
      </p:sp>
    </p:spTree>
    <p:extLst>
      <p:ext uri="{BB962C8B-B14F-4D97-AF65-F5344CB8AC3E}">
        <p14:creationId xmlns:p14="http://schemas.microsoft.com/office/powerpoint/2010/main" val="4194360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BB9A73A0-70AC-461B-2B16-AE7C02E2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37B69115-76B1-6D8D-61A3-4A7AFF824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dirty="0"/>
              <a:t>Summary: The Three Pillars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94D019BC-FD8C-3448-4339-41EB5712C601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2947C23B-F468-555C-2FAB-1D849B13D3F1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F849E67-5EF4-25FA-16DD-019F4A3F8A9D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AEF5A896-3C8C-7EC2-EE1A-BC57FB992EFF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1CBD561A-1DB2-0CA8-F412-99D23321BCAC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C75726DB-7F4D-EAD6-8EE8-2A97DDA4C328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57E33E81-842F-77C3-AAC5-FBE40E77133B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4287A90A-7467-5CF1-F93F-0C37BBA1CD74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DAECC4-C33D-7367-3EC1-421AD0DD9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94136"/>
              </p:ext>
            </p:extLst>
          </p:nvPr>
        </p:nvGraphicFramePr>
        <p:xfrm>
          <a:off x="742089" y="1746835"/>
          <a:ext cx="7681911" cy="158953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840320">
                  <a:extLst>
                    <a:ext uri="{9D8B030D-6E8A-4147-A177-3AD203B41FA5}">
                      <a16:colId xmlns:a16="http://schemas.microsoft.com/office/drawing/2014/main" val="87342259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99759349"/>
                    </a:ext>
                  </a:extLst>
                </a:gridCol>
                <a:gridCol w="3829911">
                  <a:extLst>
                    <a:ext uri="{9D8B030D-6E8A-4147-A177-3AD203B41FA5}">
                      <a16:colId xmlns:a16="http://schemas.microsoft.com/office/drawing/2014/main" val="1784494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Layer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Language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Role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77408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Structure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HTML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Defines content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57161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Style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CSS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Beautifies and layouts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5680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Behavior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JavaScript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Makes it interactive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824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860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E43EB530-3D51-6FD5-8E96-4CC23C4D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429B7CF7-2B23-7485-A886-5BD478352B4F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DE62A5E-DE89-D194-FF78-ED059575192C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19C09560-A8EB-DBEF-A8D2-931B41FBC55C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CFE89363-4159-6913-CCBC-40807A204590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FC5C7ECA-A6E3-B70A-732B-1BABF0F748EF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501C47EB-B81B-C6F6-35B6-DB6F0CD42F28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658E798-85C5-3493-3BD1-58025574164A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8AE2F02C-A7C0-2A20-37E9-4F7A715AC2BD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2411;p64">
            <a:extLst>
              <a:ext uri="{FF2B5EF4-FFF2-40B4-BE49-F238E27FC236}">
                <a16:creationId xmlns:a16="http://schemas.microsoft.com/office/drawing/2014/main" id="{07CFFC7E-8BA4-BF7C-3C03-592510F5D3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67462" y="2386686"/>
            <a:ext cx="6174836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IBM Plex Mono" panose="020B0509050203000203" pitchFamily="49" charset="0"/>
              </a:rPr>
              <a:t>Do you have any questions?</a:t>
            </a:r>
          </a:p>
          <a:p>
            <a:r>
              <a:rPr lang="en-US" b="0" dirty="0">
                <a:latin typeface="IBM Plex Mono" panose="020B0509050203000203" pitchFamily="49" charset="0"/>
              </a:rPr>
              <a:t>Thank you for your attention!</a:t>
            </a:r>
          </a:p>
          <a:p>
            <a:r>
              <a:rPr lang="en-US" b="0" dirty="0">
                <a:latin typeface="IBM Plex Mono" panose="020B0509050203000203" pitchFamily="49" charset="0"/>
              </a:rPr>
              <a:t>Let's start coding!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IBM Plex Mono" panose="020B0509050203000203" pitchFamily="49" charset="0"/>
            </a:endParaRPr>
          </a:p>
        </p:txBody>
      </p:sp>
      <p:sp>
        <p:nvSpPr>
          <p:cNvPr id="6" name="Google Shape;2412;p64">
            <a:extLst>
              <a:ext uri="{FF2B5EF4-FFF2-40B4-BE49-F238E27FC236}">
                <a16:creationId xmlns:a16="http://schemas.microsoft.com/office/drawing/2014/main" id="{1FA5AA53-CE0D-51CF-FE62-B27459281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7462" y="1369083"/>
            <a:ext cx="5126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Thanks!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59699720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Microsoft Office PowerPoint</Application>
  <PresentationFormat>On-screen Show (16:9)</PresentationFormat>
  <Paragraphs>199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Source Code Pro</vt:lpstr>
      <vt:lpstr>Wingdings</vt:lpstr>
      <vt:lpstr>Arial</vt:lpstr>
      <vt:lpstr>Poppins</vt:lpstr>
      <vt:lpstr>Roboto Condensed Light</vt:lpstr>
      <vt:lpstr>Roboto</vt:lpstr>
      <vt:lpstr>IBM Plex Mono</vt:lpstr>
      <vt:lpstr>Introduction to Coding Workshop by Slidesgo</vt:lpstr>
      <vt:lpstr>Web Essentials: From Code to Career</vt:lpstr>
      <vt:lpstr>What Will We Learn?</vt:lpstr>
      <vt:lpstr>Our Toolkit</vt:lpstr>
      <vt:lpstr>By the End, You Will Be Able To...</vt:lpstr>
      <vt:lpstr>The Magic Behind Websites</vt:lpstr>
      <vt:lpstr>What Happens When You Visit a Website?</vt:lpstr>
      <vt:lpstr>The Foundation of the Web</vt:lpstr>
      <vt:lpstr>The Request-Response Cycle</vt:lpstr>
      <vt:lpstr>Becoming a Full-Stack Developer</vt:lpstr>
      <vt:lpstr>Connecting the Dots:  A Registration Flow</vt:lpstr>
      <vt:lpstr>Setting Up Your Development Environment</vt:lpstr>
      <vt:lpstr>HTML – Hyper Text Markup Language</vt:lpstr>
      <vt:lpstr>From Code to Web Page</vt:lpstr>
      <vt:lpstr>Anatomy of an HTML Page</vt:lpstr>
      <vt:lpstr>Essential HTML Building Blocks</vt:lpstr>
      <vt:lpstr>Giving Meaning to Your Content</vt:lpstr>
      <vt:lpstr>Collecting User Input</vt:lpstr>
      <vt:lpstr>CSS – Cascading Style Sheets</vt:lpstr>
      <vt:lpstr>How to Apply Styles</vt:lpstr>
      <vt:lpstr>The Language of Style</vt:lpstr>
      <vt:lpstr>What Can You Style?</vt:lpstr>
      <vt:lpstr>Understanding Element Layout</vt:lpstr>
      <vt:lpstr>JavaScript – Adding Behavior</vt:lpstr>
      <vt:lpstr>Placing Your Code</vt:lpstr>
      <vt:lpstr>Syntax &amp; Variables</vt:lpstr>
      <vt:lpstr>Types of Data</vt:lpstr>
      <vt:lpstr>Reusable Code Blocks</vt:lpstr>
      <vt:lpstr>Changing the Page Dynamically</vt:lpstr>
      <vt:lpstr>Responding to User Actions</vt:lpstr>
      <vt:lpstr>Validating Data Before Sending</vt:lpstr>
      <vt:lpstr>Summary: The Three Pillars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Anil T Sagar</cp:lastModifiedBy>
  <cp:revision>2</cp:revision>
  <dcterms:modified xsi:type="dcterms:W3CDTF">2025-11-04T00:17:55Z</dcterms:modified>
</cp:coreProperties>
</file>