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8"/>
  </p:notesMasterIdLst>
  <p:sldIdLst>
    <p:sldId id="256" r:id="rId2"/>
    <p:sldId id="308" r:id="rId3"/>
    <p:sldId id="311" r:id="rId4"/>
    <p:sldId id="309" r:id="rId5"/>
    <p:sldId id="313" r:id="rId6"/>
    <p:sldId id="314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43" r:id="rId20"/>
    <p:sldId id="328" r:id="rId21"/>
    <p:sldId id="329" r:id="rId22"/>
    <p:sldId id="330" r:id="rId23"/>
    <p:sldId id="331" r:id="rId24"/>
    <p:sldId id="332" r:id="rId25"/>
    <p:sldId id="334" r:id="rId26"/>
    <p:sldId id="342" r:id="rId27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Roboto Condensed Light" panose="02000000000000000000" pitchFamily="2" charset="0"/>
      <p:regular r:id="rId41"/>
      <p:italic r:id="rId42"/>
    </p:embeddedFont>
    <p:embeddedFont>
      <p:font typeface="Source Code Pro" panose="020B0509030403020204" pitchFamily="49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2693F0-AB1F-47B5-8E2A-DD1735287022}">
  <a:tblStyle styleId="{9E2693F0-AB1F-47B5-8E2A-DD17352870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34" y="-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F2C3BD1D-4A9E-F9DF-32DA-75C8C86F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BEA3BDF2-05BE-A254-A9DD-F6A67BDCD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3378F447-E1C2-2929-DE9E-39AADD22F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170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CF3DB029-EBFF-5E58-B39D-79AAB338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9A880E31-F782-457D-59F2-4C62266C9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06359F52-C789-640D-7D31-D22903339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2945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1A0576EC-0B80-5A13-E00F-A52D3325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46BDDA23-71F7-076C-656E-079852D4B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6437F930-A6CA-F81E-D78B-36B301A4B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491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C6E2E8E6-A392-0160-8FFD-A485BCD7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15ACC27D-2133-EDC5-C666-04EC5E191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BFBB574D-C193-3F92-6252-3E9B71152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327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809CA03E-53FE-2080-F71A-10895503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E087DD27-253A-99CC-6F4C-43CC624237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792C7383-48B5-472A-8C73-9CD67C346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261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FBB96FA2-5097-5655-A62D-8B421634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D115E467-47C1-AA9F-F7FF-570FE253D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B700D027-1120-4F10-5EE2-F4F742B71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534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DB5E3862-F1A3-3580-96AB-3EC2E56C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50D0D862-1AF5-5977-5A43-6C3B37CCC6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522C57BF-2CE8-B21F-BE21-29C629B946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58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81360C0B-9CBE-75FA-106D-95A7BF18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30B2A738-3C14-DE8B-5C20-946D0863F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45DE020A-77FD-9287-ECAB-62CC748D0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4305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>
          <a:extLst>
            <a:ext uri="{FF2B5EF4-FFF2-40B4-BE49-F238E27FC236}">
              <a16:creationId xmlns:a16="http://schemas.microsoft.com/office/drawing/2014/main" id="{B099D43B-BA91-7D12-AB05-CDBD5EED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>
            <a:extLst>
              <a:ext uri="{FF2B5EF4-FFF2-40B4-BE49-F238E27FC236}">
                <a16:creationId xmlns:a16="http://schemas.microsoft.com/office/drawing/2014/main" id="{FB1E81BA-2EF2-3A21-52A8-A53C65A62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>
            <a:extLst>
              <a:ext uri="{FF2B5EF4-FFF2-40B4-BE49-F238E27FC236}">
                <a16:creationId xmlns:a16="http://schemas.microsoft.com/office/drawing/2014/main" id="{08A61270-5EB6-3249-CA30-B00AD08CB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8467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>
          <a:extLst>
            <a:ext uri="{FF2B5EF4-FFF2-40B4-BE49-F238E27FC236}">
              <a16:creationId xmlns:a16="http://schemas.microsoft.com/office/drawing/2014/main" id="{2332A9A1-AB39-A734-CDCC-C54A5CCA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>
            <a:extLst>
              <a:ext uri="{FF2B5EF4-FFF2-40B4-BE49-F238E27FC236}">
                <a16:creationId xmlns:a16="http://schemas.microsoft.com/office/drawing/2014/main" id="{9F639227-997F-64F7-046B-EEA00E755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>
            <a:extLst>
              <a:ext uri="{FF2B5EF4-FFF2-40B4-BE49-F238E27FC236}">
                <a16:creationId xmlns:a16="http://schemas.microsoft.com/office/drawing/2014/main" id="{80C123F6-0F02-F48D-1AA9-A3D357DC8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22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2211C3F6-BA59-9F59-8C25-61E1DDAF9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6697ED64-0814-10A5-BE83-D4734E5AD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94F88C4C-348D-4389-4CDC-9C282810D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758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682FBDF0-F45F-D8B4-7F82-B69875DA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2C067F3D-EE83-9252-34D9-852757F3C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57B3C8E9-BCAB-D9A4-E082-EDBB84CE6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206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1B53E910-7A67-81C1-4043-F9177CAF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B9EBEBC4-6993-1EB1-A2DB-B3BCCAB00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CC8F5FFD-4B30-8175-2BA0-DA7BD420C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120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259AE797-EA75-CABB-8FD9-AD1AF6D5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3A5CF1DE-C4B4-AFE7-B9FC-CEFDA2745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C6FD8D7F-171D-0EC4-4908-079927ADB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876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C0DC42DE-D1CA-2808-A01C-3BE8BB29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3A4B16DE-011F-AFBE-C402-6EDEC2DF7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8B4A6EC5-5A01-C2CB-99B3-50AFFDE0E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37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>
          <a:extLst>
            <a:ext uri="{FF2B5EF4-FFF2-40B4-BE49-F238E27FC236}">
              <a16:creationId xmlns:a16="http://schemas.microsoft.com/office/drawing/2014/main" id="{077A2189-231B-5ECC-853D-ACE5C71C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>
            <a:extLst>
              <a:ext uri="{FF2B5EF4-FFF2-40B4-BE49-F238E27FC236}">
                <a16:creationId xmlns:a16="http://schemas.microsoft.com/office/drawing/2014/main" id="{11F72A4F-4718-CF29-5F16-EE26FEDE3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>
            <a:extLst>
              <a:ext uri="{FF2B5EF4-FFF2-40B4-BE49-F238E27FC236}">
                <a16:creationId xmlns:a16="http://schemas.microsoft.com/office/drawing/2014/main" id="{E34967BF-2EEF-9749-8576-5873260D1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582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>
          <a:extLst>
            <a:ext uri="{FF2B5EF4-FFF2-40B4-BE49-F238E27FC236}">
              <a16:creationId xmlns:a16="http://schemas.microsoft.com/office/drawing/2014/main" id="{04043CFD-39A4-EF7C-C5BD-B4191E1F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>
            <a:extLst>
              <a:ext uri="{FF2B5EF4-FFF2-40B4-BE49-F238E27FC236}">
                <a16:creationId xmlns:a16="http://schemas.microsoft.com/office/drawing/2014/main" id="{367457AF-92BC-4649-F88C-5BB89067C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>
            <a:extLst>
              <a:ext uri="{FF2B5EF4-FFF2-40B4-BE49-F238E27FC236}">
                <a16:creationId xmlns:a16="http://schemas.microsoft.com/office/drawing/2014/main" id="{9F80B9EA-DE58-2636-319D-E0007BB4A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606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>
          <a:extLst>
            <a:ext uri="{FF2B5EF4-FFF2-40B4-BE49-F238E27FC236}">
              <a16:creationId xmlns:a16="http://schemas.microsoft.com/office/drawing/2014/main" id="{A7A6235F-3D7F-B9DB-8723-050EAB12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>
            <a:extLst>
              <a:ext uri="{FF2B5EF4-FFF2-40B4-BE49-F238E27FC236}">
                <a16:creationId xmlns:a16="http://schemas.microsoft.com/office/drawing/2014/main" id="{FEAB54D8-A18A-125A-D1D7-03BCEDCC3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>
            <a:extLst>
              <a:ext uri="{FF2B5EF4-FFF2-40B4-BE49-F238E27FC236}">
                <a16:creationId xmlns:a16="http://schemas.microsoft.com/office/drawing/2014/main" id="{1E42844C-5E0F-5625-0B46-371A92C72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802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A2002F8D-F7FC-6333-B0D8-EE50D19B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AD9F2BF3-62EA-3ADB-1639-E2597D44E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7E60E0D5-62C8-F170-22D3-DAE75F959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170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1CDD205D-D9B9-B165-3E49-0732EEF8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2249E41A-7227-231C-3882-BD5372283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43E26F08-182D-4C05-D0FB-10C86D33E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93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BECCE004-60C7-AC63-9108-7CB5A9D9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66003C28-4F7E-8A2F-39E8-3E3E3216A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20380323-BEC3-E182-B517-5CF80FA17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6105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35C01B92-D194-B959-190A-BA34E7F0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B839EB97-D59E-6751-3D43-987712FEEB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F834AF04-B3D4-CCE6-0A26-7790DE2E44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768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43B20754-644A-39B5-ED7A-687FC1B4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76009061-C043-3106-DE2F-5BF5F948A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B806F0D9-89F9-46EA-E93C-FD61E91FA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478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>
          <a:extLst>
            <a:ext uri="{FF2B5EF4-FFF2-40B4-BE49-F238E27FC236}">
              <a16:creationId xmlns:a16="http://schemas.microsoft.com/office/drawing/2014/main" id="{A5EB4F93-B396-9EA6-39DF-DB2BDBEC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>
            <a:extLst>
              <a:ext uri="{FF2B5EF4-FFF2-40B4-BE49-F238E27FC236}">
                <a16:creationId xmlns:a16="http://schemas.microsoft.com/office/drawing/2014/main" id="{6574CBAF-0497-6461-F48B-6F5C350C53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>
            <a:extLst>
              <a:ext uri="{FF2B5EF4-FFF2-40B4-BE49-F238E27FC236}">
                <a16:creationId xmlns:a16="http://schemas.microsoft.com/office/drawing/2014/main" id="{A6967017-6C34-8AD3-0DF2-FFE8D824B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433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>
          <a:extLst>
            <a:ext uri="{FF2B5EF4-FFF2-40B4-BE49-F238E27FC236}">
              <a16:creationId xmlns:a16="http://schemas.microsoft.com/office/drawing/2014/main" id="{FB3A0D3A-ABBF-92AE-6025-7A3FE2D7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>
            <a:extLst>
              <a:ext uri="{FF2B5EF4-FFF2-40B4-BE49-F238E27FC236}">
                <a16:creationId xmlns:a16="http://schemas.microsoft.com/office/drawing/2014/main" id="{50787EF3-F3BC-A5D9-A7D3-11439201D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>
            <a:extLst>
              <a:ext uri="{FF2B5EF4-FFF2-40B4-BE49-F238E27FC236}">
                <a16:creationId xmlns:a16="http://schemas.microsoft.com/office/drawing/2014/main" id="{0E3FEB9C-B86A-4499-E21C-A01C61FCE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769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8" r:id="rId4"/>
    <p:sldLayoutId id="2147483659" r:id="rId5"/>
    <p:sldLayoutId id="2147483665" r:id="rId6"/>
    <p:sldLayoutId id="2147483671" r:id="rId7"/>
    <p:sldLayoutId id="2147483676" r:id="rId8"/>
    <p:sldLayoutId id="214748367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298368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 3 Day Hands On Workshop – Day 2</a:t>
            </a: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Web Essentials: </a:t>
            </a:r>
            <a:r>
              <a:rPr lang="en-US" dirty="0">
                <a:solidFill>
                  <a:schemeClr val="tx1"/>
                </a:solidFill>
              </a:rPr>
              <a:t>From Code to Career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128638" y="3088345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797702-149D-4B68-39A5-8264063E9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173" y="957475"/>
            <a:ext cx="1934807" cy="4859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2A8F26-609B-017D-56D6-82F84177C447}"/>
              </a:ext>
            </a:extLst>
          </p:cNvPr>
          <p:cNvSpPr txBox="1"/>
          <p:nvPr/>
        </p:nvSpPr>
        <p:spPr>
          <a:xfrm>
            <a:off x="1162173" y="3711611"/>
            <a:ext cx="5676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Welcome !! </a:t>
            </a:r>
            <a:b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Get Ready to Build the Web !!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BFF3E1EB-39E6-C2E9-6B36-30D8D558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2362EAB9-A809-E0DF-069A-145FABAE7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Backend Development with JSP</a:t>
            </a:r>
            <a:endParaRPr dirty="0"/>
          </a:p>
        </p:txBody>
      </p:sp>
      <p:sp>
        <p:nvSpPr>
          <p:cNvPr id="1532" name="Google Shape;1532;p39">
            <a:extLst>
              <a:ext uri="{FF2B5EF4-FFF2-40B4-BE49-F238E27FC236}">
                <a16:creationId xmlns:a16="http://schemas.microsoft.com/office/drawing/2014/main" id="{CD9F2C2E-698C-E3B7-E362-0F73C402F59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77071"/>
            <a:ext cx="7704000" cy="2955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50000"/>
              </a:lnSpc>
            </a:pPr>
            <a:r>
              <a:rPr lang="en-US" sz="1800" b="1" dirty="0"/>
              <a:t>Connecting Frontend to Database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JSP (Java Server Pages) Introduction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Database Connectivity with MySQL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MVC Architecture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Session Management</a:t>
            </a:r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Complete User Management System</a:t>
            </a:r>
            <a:endParaRPr lang="en-US" sz="1800" b="1"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2C496F8E-CFE5-316C-0751-DBF919191240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8EC4BCA0-6F83-0BC3-932A-AE9E0DBDBF9E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E1A5A4F3-98F7-32AF-035C-47D73848227F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643D1A7A-CCFC-F78A-CA14-DC80A34D6994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7C2F9806-B15B-9006-1036-B2E0D532E694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A3EB107C-2B61-9BBB-D400-C2411192A6FB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50FC2E55-3CB6-54AE-24BD-C680CB0A93D9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AEA884D3-EC5C-56C5-D630-E49B16230E54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245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40BBA33C-FD3B-FBE7-CD76-5D545343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813561B2-C8B9-F127-059B-488040FC1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661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N" dirty="0"/>
              <a:t>Today's Roadmap</a:t>
            </a:r>
          </a:p>
        </p:txBody>
      </p:sp>
      <p:sp>
        <p:nvSpPr>
          <p:cNvPr id="1532" name="Google Shape;1532;p39">
            <a:extLst>
              <a:ext uri="{FF2B5EF4-FFF2-40B4-BE49-F238E27FC236}">
                <a16:creationId xmlns:a16="http://schemas.microsoft.com/office/drawing/2014/main" id="{92A73AC8-0F08-AB24-A0F6-A9F5B35DFA3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64705" y="1211444"/>
            <a:ext cx="3470337" cy="3313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JSP Fundamentals</a:t>
            </a:r>
            <a:endParaRPr lang="en-IN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What is JSP &amp; How it Works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JSP Elements &amp; Lifecycle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Implicit Objects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Database Integration</a:t>
            </a:r>
            <a:endParaRPr lang="en-IN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JDBC with MySQL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JSP + JavaBeans</a:t>
            </a:r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FC001F8B-CB54-306F-EC32-BA3A7BFC5AFD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BE14DEFD-F234-53BC-5B5B-DD954D5A50E5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08E1155E-1434-09CE-C52B-34E11D221187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6E5EC2DF-282B-4B49-CAE6-59540ABE3024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188B626B-2AF0-7C66-45AB-F966DD3529F3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56FFF6FF-445D-79AA-ED95-D2133B78E48D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B2718832-53A9-4CAA-31E2-723700952BEE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032F229B-F1F8-825B-3D6A-534AEDAD18D8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1532;p39">
            <a:extLst>
              <a:ext uri="{FF2B5EF4-FFF2-40B4-BE49-F238E27FC236}">
                <a16:creationId xmlns:a16="http://schemas.microsoft.com/office/drawing/2014/main" id="{13536EA5-4D84-499A-9A7B-D24A73212C30}"/>
              </a:ext>
            </a:extLst>
          </p:cNvPr>
          <p:cNvSpPr txBox="1">
            <a:spLocks/>
          </p:cNvSpPr>
          <p:nvPr/>
        </p:nvSpPr>
        <p:spPr>
          <a:xfrm>
            <a:off x="4901633" y="1211444"/>
            <a:ext cx="3820948" cy="331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1800" b="1" dirty="0"/>
              <a:t>Advanced Concepts</a:t>
            </a:r>
            <a:endParaRPr lang="en-IN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MVC Architecture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Session Management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Hands-On Project</a:t>
            </a:r>
            <a:endParaRPr lang="en-IN" sz="1800" dirty="0"/>
          </a:p>
          <a:p>
            <a:pPr marL="4254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User Management System (Login, Register, CRUD, Logout)</a:t>
            </a:r>
          </a:p>
        </p:txBody>
      </p:sp>
    </p:spTree>
    <p:extLst>
      <p:ext uri="{BB962C8B-B14F-4D97-AF65-F5344CB8AC3E}">
        <p14:creationId xmlns:p14="http://schemas.microsoft.com/office/powerpoint/2010/main" val="278508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3C27DBB1-F10B-4A69-E896-6DFECE25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F34A23CA-93B5-318A-BBA8-437132362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JSP - Java Server Pages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DD09F-8A40-8FD9-DEF8-0C1FEB9CBBD1}"/>
              </a:ext>
            </a:extLst>
          </p:cNvPr>
          <p:cNvSpPr txBox="1"/>
          <p:nvPr/>
        </p:nvSpPr>
        <p:spPr>
          <a:xfrm>
            <a:off x="974034" y="1017725"/>
            <a:ext cx="7605423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What is JSP?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Server-side technology for dynamic web pages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Embeds Java code in HTML using special tags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Easier than Servlets for UI-based applications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Why JSP?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Separation of presentation (HTML) and business logic (Java)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Supports Java directly inside HTML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Ideal for Login forms, Dashboards, CRUD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7432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4563AB53-9ED5-6359-B09C-B757DF69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3840853A-4D56-E163-878D-F82378AF15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How JSP Works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19BD40-0536-F420-34DD-47AFC511D767}"/>
              </a:ext>
            </a:extLst>
          </p:cNvPr>
          <p:cNvSpPr txBox="1"/>
          <p:nvPr/>
        </p:nvSpPr>
        <p:spPr>
          <a:xfrm>
            <a:off x="811032" y="1017725"/>
            <a:ext cx="8197795" cy="3374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Processing Flow: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Browser sends HTTP request to Tomcat Server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JSP page converted into Java servlet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Servlet compiled into bytecode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Executed by JVM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HTML output sent back to browser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Flow Diagram: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Browser → Tomcat → JSP Engine → Servlet → Compiled Java → HTML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22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353AB60E-D5CA-8AA3-8D70-9F88B44B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5F8C2FE9-109A-C28C-E127-7F98FA9ECB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Tools &amp; Software Setup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AA5C0B-4AB9-8453-C4F8-F47ACE88F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62384"/>
              </p:ext>
            </p:extLst>
          </p:nvPr>
        </p:nvGraphicFramePr>
        <p:xfrm>
          <a:off x="606860" y="1251322"/>
          <a:ext cx="7930279" cy="3022981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436099">
                  <a:extLst>
                    <a:ext uri="{9D8B030D-6E8A-4147-A177-3AD203B41FA5}">
                      <a16:colId xmlns:a16="http://schemas.microsoft.com/office/drawing/2014/main" val="3912126545"/>
                    </a:ext>
                  </a:extLst>
                </a:gridCol>
                <a:gridCol w="2747090">
                  <a:extLst>
                    <a:ext uri="{9D8B030D-6E8A-4147-A177-3AD203B41FA5}">
                      <a16:colId xmlns:a16="http://schemas.microsoft.com/office/drawing/2014/main" val="1862877967"/>
                    </a:ext>
                  </a:extLst>
                </a:gridCol>
                <a:gridCol w="2747090">
                  <a:extLst>
                    <a:ext uri="{9D8B030D-6E8A-4147-A177-3AD203B41FA5}">
                      <a16:colId xmlns:a16="http://schemas.microsoft.com/office/drawing/2014/main" val="1160263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Tool</a:t>
                      </a:r>
                      <a:endParaRPr lang="en-IN" sz="180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Purpose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Version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560284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JDK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Compile Java/JSP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JDK 17+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40648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Apache Tomcat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Web Server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Tomcat 9/10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34821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Eclipse IDE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Java Web Projects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Enterprise Edition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4072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MySQL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Database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MySQL 8.0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65576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MySQL Workbench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GUI Database Tool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Optional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9983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JDBC Connector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Java-MySQL Connection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mysql-connector-j.jar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82074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042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4A50B212-2C9E-8D88-71A6-F32527A0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E6D007D3-C0D0-E68A-028D-935099881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JSP Elements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194C50-3483-0F72-CEE9-C04E4F437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35686"/>
              </p:ext>
            </p:extLst>
          </p:nvPr>
        </p:nvGraphicFramePr>
        <p:xfrm>
          <a:off x="519878" y="1383071"/>
          <a:ext cx="8104244" cy="2183765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037398">
                  <a:extLst>
                    <a:ext uri="{9D8B030D-6E8A-4147-A177-3AD203B41FA5}">
                      <a16:colId xmlns:a16="http://schemas.microsoft.com/office/drawing/2014/main" val="1411592172"/>
                    </a:ext>
                  </a:extLst>
                </a:gridCol>
                <a:gridCol w="3093073">
                  <a:extLst>
                    <a:ext uri="{9D8B030D-6E8A-4147-A177-3AD203B41FA5}">
                      <a16:colId xmlns:a16="http://schemas.microsoft.com/office/drawing/2014/main" val="1552183791"/>
                    </a:ext>
                  </a:extLst>
                </a:gridCol>
                <a:gridCol w="2973773">
                  <a:extLst>
                    <a:ext uri="{9D8B030D-6E8A-4147-A177-3AD203B41FA5}">
                      <a16:colId xmlns:a16="http://schemas.microsoft.com/office/drawing/2014/main" val="1185864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Type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Example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22212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Directives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Instructions to container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&lt;%@ page language="java" %&gt;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77087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Scripting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Embed Java code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&lt;% int x = 10; %&gt;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8406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Actions/Tags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Control behavior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&lt;jsp:useBean&gt;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18154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Implicit Objects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Predefined objects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 dirty="0" err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request.getParameter</a:t>
                      </a:r>
                      <a:r>
                        <a:rPr lang="en-IN" sz="18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99456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42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AD13ECE1-EBE0-E701-2BAA-D5871309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EA83F6F0-B014-8E38-B190-35D804CD5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Scripting Elements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785148C5-B0A4-B4ED-2B7B-1537AA9E50EA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83713474-D56D-9C46-0DA1-F5B36199BE2D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3D878D24-6CB1-01E4-76FD-6857DF7C6BD4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AB488C37-5FBB-4543-8C0D-45784E22D830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8399B7B3-A983-7C84-ACEC-3969EC651ABD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8F288922-2F6A-1052-3EDC-EDCE38E66986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A2FF7F10-0D5E-5B08-B472-A2D9223301A3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EA0B12B4-15EA-0B6B-5665-8550F673F8B6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BD977D5-CD4A-4D56-3711-972AE3470673}"/>
              </a:ext>
            </a:extLst>
          </p:cNvPr>
          <p:cNvSpPr txBox="1"/>
          <p:nvPr/>
        </p:nvSpPr>
        <p:spPr>
          <a:xfrm>
            <a:off x="4643562" y="2901338"/>
            <a:ext cx="3697357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Example : </a:t>
            </a:r>
            <a:b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&lt;%! int num = 10; %&gt;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&lt;% num += 5; %&gt;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&lt;h3&gt;Result: &lt;%= num %&gt;&lt;/h3&gt;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0F2CA6-3482-E152-386A-E816A6F92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13534"/>
              </p:ext>
            </p:extLst>
          </p:nvPr>
        </p:nvGraphicFramePr>
        <p:xfrm>
          <a:off x="1023735" y="1108429"/>
          <a:ext cx="7096529" cy="182016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29385">
                  <a:extLst>
                    <a:ext uri="{9D8B030D-6E8A-4147-A177-3AD203B41FA5}">
                      <a16:colId xmlns:a16="http://schemas.microsoft.com/office/drawing/2014/main" val="764955233"/>
                    </a:ext>
                  </a:extLst>
                </a:gridCol>
                <a:gridCol w="3006090">
                  <a:extLst>
                    <a:ext uri="{9D8B030D-6E8A-4147-A177-3AD203B41FA5}">
                      <a16:colId xmlns:a16="http://schemas.microsoft.com/office/drawing/2014/main" val="2799517903"/>
                    </a:ext>
                  </a:extLst>
                </a:gridCol>
                <a:gridCol w="2661054">
                  <a:extLst>
                    <a:ext uri="{9D8B030D-6E8A-4147-A177-3AD203B41FA5}">
                      <a16:colId xmlns:a16="http://schemas.microsoft.com/office/drawing/2014/main" val="1866879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Element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Syntax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Description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56732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Declaration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&lt;%! int count = 0; %&gt;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Declare variables/methods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021845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Scriptlet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&lt;% out.println("Hello"); %&gt;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Write Java code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59483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Expression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&lt;%= count %&gt;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Print value directly</a:t>
                      </a:r>
                      <a:endParaRPr lang="en-IN" sz="180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97249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00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775AEA08-7265-0A9A-B445-FA15E227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05BDBAFC-125C-4152-8F60-7DE8DDFCE3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Directives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B0001E-D168-6F89-A9F5-4BCEAE271B2B}"/>
              </a:ext>
            </a:extLst>
          </p:cNvPr>
          <p:cNvSpPr txBox="1"/>
          <p:nvPr/>
        </p:nvSpPr>
        <p:spPr>
          <a:xfrm>
            <a:off x="441704" y="1298709"/>
            <a:ext cx="8424000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Page Directive:</a:t>
            </a: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&lt;%@ page language="java" 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contentType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="text/html; charset=UTF-8" %&gt;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Include Directive:</a:t>
            </a: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&lt;%@ include file="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header.jsp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" %&gt;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Taglib</a:t>
            </a: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 Directive:</a:t>
            </a:r>
            <a:b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&lt;%@ 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taglib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uri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="http://java.sun.com/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/</a:t>
            </a:r>
            <a:r>
              <a:rPr lang="en-US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jstl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/core" prefix="c" %&gt;</a:t>
            </a:r>
          </a:p>
        </p:txBody>
      </p:sp>
    </p:spTree>
    <p:extLst>
      <p:ext uri="{BB962C8B-B14F-4D97-AF65-F5344CB8AC3E}">
        <p14:creationId xmlns:p14="http://schemas.microsoft.com/office/powerpoint/2010/main" val="168710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>
          <a:extLst>
            <a:ext uri="{FF2B5EF4-FFF2-40B4-BE49-F238E27FC236}">
              <a16:creationId xmlns:a16="http://schemas.microsoft.com/office/drawing/2014/main" id="{AAEDB454-2066-01BD-6790-026694FC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>
            <a:extLst>
              <a:ext uri="{FF2B5EF4-FFF2-40B4-BE49-F238E27FC236}">
                <a16:creationId xmlns:a16="http://schemas.microsoft.com/office/drawing/2014/main" id="{E9159210-7019-BAD1-B82F-AE85926040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JSP Life Cycle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27706-18CB-A87C-33F4-628FCDC7AE83}"/>
              </a:ext>
            </a:extLst>
          </p:cNvPr>
          <p:cNvSpPr txBox="1"/>
          <p:nvPr/>
        </p:nvSpPr>
        <p:spPr>
          <a:xfrm>
            <a:off x="720000" y="1017725"/>
            <a:ext cx="7704000" cy="3374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5 Phases</a:t>
            </a:r>
          </a:p>
          <a:p>
            <a:pPr marL="342900" lvl="7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Translation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- JSP → Servlet</a:t>
            </a:r>
          </a:p>
          <a:p>
            <a:pPr marL="342900" lvl="4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Compilation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- Servlet → Class file</a:t>
            </a:r>
          </a:p>
          <a:p>
            <a:pPr marL="342900" lvl="4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Initialization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-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jspInit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()</a:t>
            </a:r>
          </a:p>
          <a:p>
            <a:pPr marL="342900" lvl="4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Request Processing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- _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jspService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()</a:t>
            </a:r>
          </a:p>
          <a:p>
            <a:pPr marL="342900" lvl="4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Destruction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 -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jspDestroy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Compilation Flow:</a:t>
            </a:r>
            <a:b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index.jsp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→ index_jsp.java →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index_jsp.class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→ executed</a:t>
            </a:r>
          </a:p>
        </p:txBody>
      </p:sp>
    </p:spTree>
    <p:extLst>
      <p:ext uri="{BB962C8B-B14F-4D97-AF65-F5344CB8AC3E}">
        <p14:creationId xmlns:p14="http://schemas.microsoft.com/office/powerpoint/2010/main" val="792393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>
          <a:extLst>
            <a:ext uri="{FF2B5EF4-FFF2-40B4-BE49-F238E27FC236}">
              <a16:creationId xmlns:a16="http://schemas.microsoft.com/office/drawing/2014/main" id="{37DACC26-2173-212D-1CE7-22E5B41B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>
            <a:extLst>
              <a:ext uri="{FF2B5EF4-FFF2-40B4-BE49-F238E27FC236}">
                <a16:creationId xmlns:a16="http://schemas.microsoft.com/office/drawing/2014/main" id="{5E7824F5-63C7-FD33-6EE6-42DB780A4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Implicit Objects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F56647-8994-9F0B-C471-618001E79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564736"/>
              </p:ext>
            </p:extLst>
          </p:nvPr>
        </p:nvGraphicFramePr>
        <p:xfrm>
          <a:off x="720000" y="1362788"/>
          <a:ext cx="8010532" cy="19735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204216">
                  <a:extLst>
                    <a:ext uri="{9D8B030D-6E8A-4147-A177-3AD203B41FA5}">
                      <a16:colId xmlns:a16="http://schemas.microsoft.com/office/drawing/2014/main" val="557433065"/>
                    </a:ext>
                  </a:extLst>
                </a:gridCol>
                <a:gridCol w="2862469">
                  <a:extLst>
                    <a:ext uri="{9D8B030D-6E8A-4147-A177-3AD203B41FA5}">
                      <a16:colId xmlns:a16="http://schemas.microsoft.com/office/drawing/2014/main" val="3169262167"/>
                    </a:ext>
                  </a:extLst>
                </a:gridCol>
                <a:gridCol w="3943847">
                  <a:extLst>
                    <a:ext uri="{9D8B030D-6E8A-4147-A177-3AD203B41FA5}">
                      <a16:colId xmlns:a16="http://schemas.microsoft.com/office/drawing/2014/main" val="2839377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Object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Description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Example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90838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request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Gets data from client</a:t>
                      </a:r>
                      <a:endParaRPr lang="en-IN" sz="180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request.getParameter("username")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97127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response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Sends data to client</a:t>
                      </a:r>
                      <a:endParaRPr lang="en-IN" sz="180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response.setContentType()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5753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session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Stores user session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session.getAttribute("user")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09498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out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Writes output to browser</a:t>
                      </a:r>
                      <a:endParaRPr lang="en-IN" sz="18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800" b="0" dirty="0" err="1">
                          <a:effectLst/>
                        </a:rPr>
                        <a:t>out.println</a:t>
                      </a:r>
                      <a:r>
                        <a:rPr lang="en-IN" sz="1800" b="0" dirty="0">
                          <a:effectLst/>
                        </a:rPr>
                        <a:t>("Welcome")</a:t>
                      </a:r>
                      <a:endParaRPr lang="en-IN" sz="1800" b="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228841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065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C9BDF0C0-D840-2929-9A7D-BD66D5A8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E2D5C1A5-8DBC-5451-3689-85E8474AD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JSP + JavaBeans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0E2E4-D96B-5617-1F5D-8A39651DB5D4}"/>
              </a:ext>
            </a:extLst>
          </p:cNvPr>
          <p:cNvSpPr txBox="1"/>
          <p:nvPr/>
        </p:nvSpPr>
        <p:spPr>
          <a:xfrm>
            <a:off x="720000" y="969975"/>
            <a:ext cx="7704000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Separation of Business Logic &amp; Presentation</a:t>
            </a:r>
            <a:endParaRPr lang="en-US" sz="2400" dirty="0">
              <a:latin typeface="Poppins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3C05E-44EC-6091-CF51-2D08B21E9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1" y="1709617"/>
            <a:ext cx="6592220" cy="1724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A323DD-BAE0-86BF-C71D-DF1D74F32140}"/>
              </a:ext>
            </a:extLst>
          </p:cNvPr>
          <p:cNvSpPr txBox="1"/>
          <p:nvPr/>
        </p:nvSpPr>
        <p:spPr>
          <a:xfrm>
            <a:off x="914399" y="3704935"/>
            <a:ext cx="8014915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jsp:useBean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id="user" class="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com.demo.User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" /&gt;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jsp:setProperty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name="user" property="name" value="Chetan" /&gt;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Hello &lt;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jsp:getProperty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name="user" property="name" /&gt;!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60056-533A-97D2-FB4C-08311E16D48D}"/>
              </a:ext>
            </a:extLst>
          </p:cNvPr>
          <p:cNvSpPr txBox="1"/>
          <p:nvPr/>
        </p:nvSpPr>
        <p:spPr>
          <a:xfrm>
            <a:off x="914399" y="1420203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JavaBean (User.java):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9FC46-CBA8-7E34-0BAB-A42E8E887FCA}"/>
              </a:ext>
            </a:extLst>
          </p:cNvPr>
          <p:cNvSpPr txBox="1"/>
          <p:nvPr/>
        </p:nvSpPr>
        <p:spPr>
          <a:xfrm>
            <a:off x="914399" y="3551046"/>
            <a:ext cx="685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JSP Usage: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44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83AFACED-07BA-06D0-9C40-67CAC801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E25A645D-E782-9F18-1358-381A28C28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339" y="211126"/>
            <a:ext cx="714384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JSP + Database Connectivity (JDBC + MySQL)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EB8AE-7A55-694E-94E9-13A19316C975}"/>
              </a:ext>
            </a:extLst>
          </p:cNvPr>
          <p:cNvSpPr txBox="1"/>
          <p:nvPr/>
        </p:nvSpPr>
        <p:spPr>
          <a:xfrm>
            <a:off x="664339" y="1309018"/>
            <a:ext cx="3705308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1600" b="0" i="0" dirty="0">
                <a:solidFill>
                  <a:srgbClr val="0F1115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1. Install MySQL &amp; create database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sz="1600" b="0" i="0" dirty="0">
                <a:solidFill>
                  <a:srgbClr val="0F1115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3. Use JDBC in JSP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3869C-48A7-AAF8-20F7-E12F21F59FBC}"/>
              </a:ext>
            </a:extLst>
          </p:cNvPr>
          <p:cNvSpPr txBox="1"/>
          <p:nvPr/>
        </p:nvSpPr>
        <p:spPr>
          <a:xfrm>
            <a:off x="769089" y="2219668"/>
            <a:ext cx="77525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&lt;%@ page import="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java.sql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.*" %&gt;</a:t>
            </a:r>
          </a:p>
          <a:p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&lt;% </a:t>
            </a:r>
          </a:p>
          <a:p>
            <a:pPr lvl="2"/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Connection con = 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DriverManager.getConnection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("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jdbc:mysql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://localhost:3306/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jsp_demo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", "root", "password");</a:t>
            </a:r>
          </a:p>
          <a:p>
            <a:pPr lvl="2"/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Statement 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st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con.createStatement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();</a:t>
            </a:r>
          </a:p>
          <a:p>
            <a:pPr lvl="2"/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ResultSet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rs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 = 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st.executeQuery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("SELECT * FROM users");</a:t>
            </a:r>
          </a:p>
          <a:p>
            <a:pPr lvl="2"/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	while(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rs.next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()) {</a:t>
            </a:r>
          </a:p>
          <a:p>
            <a:pPr lvl="2"/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  	  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out.println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rs.getString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("name"));</a:t>
            </a:r>
          </a:p>
          <a:p>
            <a:pPr lvl="2"/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	}</a:t>
            </a:r>
          </a:p>
          <a:p>
            <a:pPr lvl="2"/>
            <a:r>
              <a:rPr lang="en-IN" i="1" dirty="0" err="1">
                <a:latin typeface="Poppins" panose="00000500000000000000" pitchFamily="2" charset="0"/>
                <a:cs typeface="Poppins" panose="00000500000000000000" pitchFamily="2" charset="0"/>
              </a:rPr>
              <a:t>con.close</a:t>
            </a:r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();</a:t>
            </a:r>
          </a:p>
          <a:p>
            <a:r>
              <a:rPr lang="en-IN" i="1" dirty="0">
                <a:latin typeface="Poppins" panose="00000500000000000000" pitchFamily="2" charset="0"/>
                <a:cs typeface="Poppins" panose="00000500000000000000" pitchFamily="2" charset="0"/>
              </a:rPr>
              <a:t>%&gt;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E6A11-005E-0400-667B-A27E03E5FC8A}"/>
              </a:ext>
            </a:extLst>
          </p:cNvPr>
          <p:cNvSpPr txBox="1"/>
          <p:nvPr/>
        </p:nvSpPr>
        <p:spPr>
          <a:xfrm>
            <a:off x="4645350" y="1309018"/>
            <a:ext cx="41408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sz="1600" b="0" i="0" dirty="0">
                <a:solidFill>
                  <a:srgbClr val="0F1115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2. Add mysql-connector-j.jar to /lib/</a:t>
            </a:r>
          </a:p>
        </p:txBody>
      </p:sp>
    </p:spTree>
    <p:extLst>
      <p:ext uri="{BB962C8B-B14F-4D97-AF65-F5344CB8AC3E}">
        <p14:creationId xmlns:p14="http://schemas.microsoft.com/office/powerpoint/2010/main" val="252819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820913D4-B399-9C45-42B1-3DB2DD678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92211E79-931B-510E-1913-9895DAAD4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MVC Architecture (Model-View-Controller)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E3773-74E7-26A6-A3EB-47B41F2B8133}"/>
              </a:ext>
            </a:extLst>
          </p:cNvPr>
          <p:cNvSpPr txBox="1"/>
          <p:nvPr/>
        </p:nvSpPr>
        <p:spPr>
          <a:xfrm>
            <a:off x="826937" y="1494845"/>
            <a:ext cx="7315200" cy="3381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Three Components: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3">
              <a:lnSpc>
                <a:spcPct val="150000"/>
              </a:lnSpc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	Model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 - Handles data &amp; business logic</a:t>
            </a:r>
          </a:p>
          <a:p>
            <a:pPr lvl="3">
              <a:lnSpc>
                <a:spcPct val="150000"/>
              </a:lnSpc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	View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 - Manages UI &amp; presentation</a:t>
            </a:r>
          </a:p>
          <a:p>
            <a:pPr lvl="3">
              <a:lnSpc>
                <a:spcPct val="150000"/>
              </a:lnSpc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	Controller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 - Controls flow between Model &amp; View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Why MVC?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Separation of logic &amp; presentation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Easy maintenance of large projects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Reusable &amp; scalable 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Individual layer testing</a:t>
            </a:r>
          </a:p>
        </p:txBody>
      </p:sp>
    </p:spTree>
    <p:extLst>
      <p:ext uri="{BB962C8B-B14F-4D97-AF65-F5344CB8AC3E}">
        <p14:creationId xmlns:p14="http://schemas.microsoft.com/office/powerpoint/2010/main" val="181265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385EF651-0BB4-7E2E-1455-3535935F3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586BC8AF-D48B-6D37-7A82-26603F1BCF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 MVC Workflow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C85C01DD-E7C6-C4BC-4371-BE928BBAEE54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F627754A-8F38-909C-D312-1FC8558C29AE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3F57B318-7CB7-20E2-E8C6-0F9483593127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FEE87880-43BF-DD2E-F75B-55A78BDA1CE2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DEFC0D07-266A-6419-78D3-7E58A9055C56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165630A1-7031-442D-F288-A052FB6E45ED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FEEB3769-B76E-522E-AEB7-81AAEFDBFE8F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F7AB97EA-1150-4482-1557-160AA7554A5A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C1148C1-431F-D7FE-FB43-B535E811435D}"/>
              </a:ext>
            </a:extLst>
          </p:cNvPr>
          <p:cNvSpPr txBox="1"/>
          <p:nvPr/>
        </p:nvSpPr>
        <p:spPr>
          <a:xfrm>
            <a:off x="917968" y="1097281"/>
            <a:ext cx="7506032" cy="3750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Step-by-Step Flow: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User interacts with web page (submits form)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Request goes to Controller (Servlet)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Controller communicates with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Model processes data (database operations)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Controller forwards data to View (JSP)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View displays result to user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Flow Diagram:</a:t>
            </a:r>
            <a:b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Browser → Controller (Servlet) ↔ Model (Java + Database) → View (JSP)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279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2D3CADFE-7338-25BB-4B3D-41C02EFE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389EF340-6CDB-3C48-2A76-795D2D4C7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Model Component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A784E2-33DF-B94D-D3E4-BBEBBD358F19}"/>
              </a:ext>
            </a:extLst>
          </p:cNvPr>
          <p:cNvSpPr txBox="1"/>
          <p:nvPr/>
        </p:nvSpPr>
        <p:spPr>
          <a:xfrm>
            <a:off x="720000" y="1076883"/>
            <a:ext cx="7789217" cy="1904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Represents data &amp; business logic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Interacts with database (JDBC, Hibernate)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Implemented as JavaBeans or Plain Java Classes</a:t>
            </a:r>
            <a:b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Example: User.java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DC22ED-7BC7-C1F0-CCBB-6F1273F084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11"/>
          <a:stretch>
            <a:fillRect/>
          </a:stretch>
        </p:blipFill>
        <p:spPr>
          <a:xfrm>
            <a:off x="2836429" y="2657100"/>
            <a:ext cx="4780921" cy="238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31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>
          <a:extLst>
            <a:ext uri="{FF2B5EF4-FFF2-40B4-BE49-F238E27FC236}">
              <a16:creationId xmlns:a16="http://schemas.microsoft.com/office/drawing/2014/main" id="{428DCE0C-BE8A-445C-8247-0BA8845A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>
            <a:extLst>
              <a:ext uri="{FF2B5EF4-FFF2-40B4-BE49-F238E27FC236}">
                <a16:creationId xmlns:a16="http://schemas.microsoft.com/office/drawing/2014/main" id="{74C05810-64CF-6259-1471-52503BE52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View Component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F6928-0F0C-2F31-D1EB-04FAAF929E76}"/>
              </a:ext>
            </a:extLst>
          </p:cNvPr>
          <p:cNvSpPr txBox="1"/>
          <p:nvPr/>
        </p:nvSpPr>
        <p:spPr>
          <a:xfrm>
            <a:off x="720000" y="952566"/>
            <a:ext cx="7704000" cy="1904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Presentation Layer (UI):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Implemented using JSP, HTML, CSS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No business logic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Displays data from Controller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Poppins" panose="00000500000000000000" pitchFamily="2" charset="0"/>
                <a:cs typeface="Poppins" panose="00000500000000000000" pitchFamily="2" charset="0"/>
              </a:rPr>
              <a:t>Example </a:t>
            </a:r>
            <a:r>
              <a:rPr lang="en-IN" sz="1600" b="1" dirty="0" err="1">
                <a:latin typeface="Poppins" panose="00000500000000000000" pitchFamily="2" charset="0"/>
                <a:cs typeface="Poppins" panose="00000500000000000000" pitchFamily="2" charset="0"/>
              </a:rPr>
              <a:t>dashboard.jsp</a:t>
            </a:r>
            <a:endParaRPr lang="en-IN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782B51-3B00-3AA5-2BF6-0BBA3A89E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59978"/>
            <a:ext cx="4471391" cy="320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35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>
          <a:extLst>
            <a:ext uri="{FF2B5EF4-FFF2-40B4-BE49-F238E27FC236}">
              <a16:creationId xmlns:a16="http://schemas.microsoft.com/office/drawing/2014/main" id="{84FC4A10-7AB5-E6D1-F5FB-CA1238B9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>
            <a:extLst>
              <a:ext uri="{FF2B5EF4-FFF2-40B4-BE49-F238E27FC236}">
                <a16:creationId xmlns:a16="http://schemas.microsoft.com/office/drawing/2014/main" id="{281D116D-C906-1D0A-BFF5-B58B3634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Controller Component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72FEE0-84C1-5674-195A-609550DF743C}"/>
              </a:ext>
            </a:extLst>
          </p:cNvPr>
          <p:cNvSpPr txBox="1"/>
          <p:nvPr/>
        </p:nvSpPr>
        <p:spPr>
          <a:xfrm>
            <a:off x="812800" y="1229802"/>
            <a:ext cx="7611200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Link between View &amp; Model: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Handles client requests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Calls Model for data processing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Selects appropriate View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Implemented using Servlets</a:t>
            </a:r>
          </a:p>
        </p:txBody>
      </p:sp>
    </p:spTree>
    <p:extLst>
      <p:ext uri="{BB962C8B-B14F-4D97-AF65-F5344CB8AC3E}">
        <p14:creationId xmlns:p14="http://schemas.microsoft.com/office/powerpoint/2010/main" val="3211989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>
          <a:extLst>
            <a:ext uri="{FF2B5EF4-FFF2-40B4-BE49-F238E27FC236}">
              <a16:creationId xmlns:a16="http://schemas.microsoft.com/office/drawing/2014/main" id="{1BDD8757-28A3-42D5-51F5-48015C582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>
            <a:extLst>
              <a:ext uri="{FF2B5EF4-FFF2-40B4-BE49-F238E27FC236}">
                <a16:creationId xmlns:a16="http://schemas.microsoft.com/office/drawing/2014/main" id="{21890B76-ABB0-7010-4265-F6E90E41F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Controller Component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F1D588-FA25-41CE-862B-AD2234BD8917}"/>
              </a:ext>
            </a:extLst>
          </p:cNvPr>
          <p:cNvSpPr txBox="1"/>
          <p:nvPr/>
        </p:nvSpPr>
        <p:spPr>
          <a:xfrm>
            <a:off x="812800" y="1034598"/>
            <a:ext cx="7611200" cy="38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Example UserController.java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6C8C8-67BC-C3D4-A72A-1ADCAF7D9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544424"/>
            <a:ext cx="6924801" cy="306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56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4EA40FA7-B2ED-BE94-DD24-6F5C4E1D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830C2B33-22F0-FABD-AAE3-7236E4E1D2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Session Management in JSP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4C1FA0-2A10-174C-8109-2816264D730E}"/>
              </a:ext>
            </a:extLst>
          </p:cNvPr>
          <p:cNvSpPr txBox="1"/>
          <p:nvPr/>
        </p:nvSpPr>
        <p:spPr>
          <a:xfrm>
            <a:off x="720000" y="1221978"/>
            <a:ext cx="7704000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What is Session?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Store user information across multiple requests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HTTP is stateless - sessions maintain state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Remember login state, shopping cart, preferences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How Sessions Work: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User logs in → Server creates session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Unique Session ID stored in browser cookie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Browser sends Session ID with each request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Server identifies user using Session ID</a:t>
            </a:r>
          </a:p>
        </p:txBody>
      </p:sp>
    </p:spTree>
    <p:extLst>
      <p:ext uri="{BB962C8B-B14F-4D97-AF65-F5344CB8AC3E}">
        <p14:creationId xmlns:p14="http://schemas.microsoft.com/office/powerpoint/2010/main" val="2020539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0264B845-C58E-20E1-A3FC-7502019F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9EF3146C-7165-7A82-77E7-7A4891D8E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Session Management Techniques</a:t>
            </a:r>
            <a:endParaRPr dirty="0"/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23F2E44A-9790-09F7-A62E-6635B535506E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F75CEAA9-07F5-4C3D-0808-45ECBE7CCD6E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89A07A9E-E72B-42D0-BCC0-C5E9EE3EC5CF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4F85FB97-A9BF-9C69-7AD8-79DC938B0AEF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4744D0C1-C897-9AED-FF90-CCBAB84F19AD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0D39F43F-AC7C-3464-0569-E3E40A0AD09E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AF63056A-FE59-CCCC-A9E2-1222BABE5D16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A9BFE3AB-E6CC-727A-CF15-60F7DEC94522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74D1DE-D991-BF36-700A-DDEA3E68F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859122"/>
              </p:ext>
            </p:extLst>
          </p:nvPr>
        </p:nvGraphicFramePr>
        <p:xfrm>
          <a:off x="594086" y="1372833"/>
          <a:ext cx="7681911" cy="26924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359803">
                  <a:extLst>
                    <a:ext uri="{9D8B030D-6E8A-4147-A177-3AD203B41FA5}">
                      <a16:colId xmlns:a16="http://schemas.microsoft.com/office/drawing/2014/main" val="1676290862"/>
                    </a:ext>
                  </a:extLst>
                </a:gridCol>
                <a:gridCol w="2661054">
                  <a:extLst>
                    <a:ext uri="{9D8B030D-6E8A-4147-A177-3AD203B41FA5}">
                      <a16:colId xmlns:a16="http://schemas.microsoft.com/office/drawing/2014/main" val="2863029730"/>
                    </a:ext>
                  </a:extLst>
                </a:gridCol>
                <a:gridCol w="2661054">
                  <a:extLst>
                    <a:ext uri="{9D8B030D-6E8A-4147-A177-3AD203B41FA5}">
                      <a16:colId xmlns:a16="http://schemas.microsoft.com/office/drawing/2014/main" val="1297779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Technique</a:t>
                      </a:r>
                      <a:endParaRPr lang="en-IN" sz="16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  <a:endParaRPr lang="en-IN" sz="16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 Case</a:t>
                      </a:r>
                      <a:endParaRPr lang="en-IN" sz="16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051360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Cookies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 stored in browser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Small, non-sensitive info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9704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URL Rewriting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 ID in URL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When cookies disabled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28960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Hidden Form Fields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 info in forms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Simple data persistence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47961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HttpSession Object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Server-side tracking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Most secure &amp; recommended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82990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8671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81D61596-EAAB-42EB-8280-E5F71DDD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>
            <a:extLst>
              <a:ext uri="{FF2B5EF4-FFF2-40B4-BE49-F238E27FC236}">
                <a16:creationId xmlns:a16="http://schemas.microsoft.com/office/drawing/2014/main" id="{8A0C3CD0-0208-6516-9329-1CE312615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80661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N" dirty="0"/>
              <a:t>Common Session Methods</a:t>
            </a:r>
          </a:p>
        </p:txBody>
      </p:sp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0EBD2C69-234A-BF44-B8CD-674E80472A12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A2ADE57A-51F9-60DE-ED07-8BB473F6CBC5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D4E84816-4C6E-0BF8-3491-B6EB84335D7D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DE816F87-E276-6B32-E7D8-DD8645B991FD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5177A05A-49F3-8C42-062C-2B32B320F00A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B390337F-F814-DED4-621C-88B843291A14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E456FBA6-63AA-0B34-056F-4ACAB0909D7D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B0784B0B-C5AA-12F2-B6BB-59305CCB4D7B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CE173D08-5438-8870-50E7-5743D010E0B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3B5041-9F15-93F0-829E-94E959592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877707"/>
              </p:ext>
            </p:extLst>
          </p:nvPr>
        </p:nvGraphicFramePr>
        <p:xfrm>
          <a:off x="692094" y="1224988"/>
          <a:ext cx="7759811" cy="27559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688398">
                  <a:extLst>
                    <a:ext uri="{9D8B030D-6E8A-4147-A177-3AD203B41FA5}">
                      <a16:colId xmlns:a16="http://schemas.microsoft.com/office/drawing/2014/main" val="2417469389"/>
                    </a:ext>
                  </a:extLst>
                </a:gridCol>
                <a:gridCol w="4071413">
                  <a:extLst>
                    <a:ext uri="{9D8B030D-6E8A-4147-A177-3AD203B41FA5}">
                      <a16:colId xmlns:a16="http://schemas.microsoft.com/office/drawing/2014/main" val="749062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Method</a:t>
                      </a:r>
                      <a:endParaRPr lang="en-IN" sz="16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600" b="1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Description</a:t>
                      </a:r>
                      <a:endParaRPr lang="en-IN" sz="1600" b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869279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session.setAttribute(name, value)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Store data in session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80259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session.getAttribute(name)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Retrieve data from session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480061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session.removeAttribute(name)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Remove specific attribute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58504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session.invalidate()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Destroy entire session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2105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session.getId()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Returns session ID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39922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IN" sz="1600" b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session.isNew()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600" b="0" dirty="0"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Checks if new session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0420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06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40A531DE-89FC-70B8-371D-27CB53AE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E4C187DE-542D-83B3-DB55-84397EF13F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Session Example - Login System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C645F-495A-F91C-515A-BCBE268D0208}"/>
              </a:ext>
            </a:extLst>
          </p:cNvPr>
          <p:cNvSpPr txBox="1"/>
          <p:nvPr/>
        </p:nvSpPr>
        <p:spPr>
          <a:xfrm>
            <a:off x="862716" y="1298709"/>
            <a:ext cx="7195931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login.jsp</a:t>
            </a: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&lt;form action="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welcome.jsp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" method="post"&gt;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   Username: &lt;input type="text" name="user"&gt;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   &lt;input type="submit" value="Login"&gt;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673483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D1BFD100-5C72-2BD2-1C20-5E3B3788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7A7DB49A-CAEF-6DA0-AE2D-A9807FB4C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dirty="0"/>
              <a:t>Session Example - Login System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B88F0-AA20-5F56-F49C-191C8F3DFBA7}"/>
              </a:ext>
            </a:extLst>
          </p:cNvPr>
          <p:cNvSpPr txBox="1"/>
          <p:nvPr/>
        </p:nvSpPr>
        <p:spPr>
          <a:xfrm>
            <a:off x="811033" y="1167075"/>
            <a:ext cx="7521934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welcome.jsp</a:t>
            </a: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&lt;%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String user =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request.getParameter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("user");</a:t>
            </a:r>
          </a:p>
          <a:p>
            <a:pPr latinLnBrk="1">
              <a:lnSpc>
                <a:spcPct val="150000"/>
              </a:lnSpc>
            </a:pP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session.setAttribute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("username", user);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%&gt;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&lt;h2&gt;Welcome, &lt;%=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session.getAttribute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("username") %&gt;&lt;/h2&gt;</a:t>
            </a:r>
          </a:p>
        </p:txBody>
      </p:sp>
    </p:spTree>
    <p:extLst>
      <p:ext uri="{BB962C8B-B14F-4D97-AF65-F5344CB8AC3E}">
        <p14:creationId xmlns:p14="http://schemas.microsoft.com/office/powerpoint/2010/main" val="462605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>
          <a:extLst>
            <a:ext uri="{FF2B5EF4-FFF2-40B4-BE49-F238E27FC236}">
              <a16:creationId xmlns:a16="http://schemas.microsoft.com/office/drawing/2014/main" id="{F72EF37C-7655-0B5A-0552-B745FB0D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>
            <a:extLst>
              <a:ext uri="{FF2B5EF4-FFF2-40B4-BE49-F238E27FC236}">
                <a16:creationId xmlns:a16="http://schemas.microsoft.com/office/drawing/2014/main" id="{85E5B80D-1871-A749-7658-0516A52A7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Session Example - Login System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8F75F4-A447-AC48-14E7-3788CE1E030A}"/>
              </a:ext>
            </a:extLst>
          </p:cNvPr>
          <p:cNvSpPr txBox="1"/>
          <p:nvPr/>
        </p:nvSpPr>
        <p:spPr>
          <a:xfrm>
            <a:off x="720000" y="1017725"/>
            <a:ext cx="7195931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profile.jsp</a:t>
            </a:r>
            <a:r>
              <a:rPr lang="en-IN" sz="1800" b="1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jsp</a:t>
            </a:r>
            <a:endParaRPr lang="en-IN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&lt;%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String user = (String)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session.getAttribute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("username");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if (user == null) {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  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response.sendRedirect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("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login.jsp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");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}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%&gt;</a:t>
            </a:r>
          </a:p>
          <a:p>
            <a:pPr latinLnBrk="1">
              <a:lnSpc>
                <a:spcPct val="150000"/>
              </a:lnSpc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&lt;h2&gt;Hello again, &lt;%= user %&gt;!&lt;/h2&gt;</a:t>
            </a:r>
          </a:p>
        </p:txBody>
      </p:sp>
    </p:spTree>
    <p:extLst>
      <p:ext uri="{BB962C8B-B14F-4D97-AF65-F5344CB8AC3E}">
        <p14:creationId xmlns:p14="http://schemas.microsoft.com/office/powerpoint/2010/main" val="1042257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>
          <a:extLst>
            <a:ext uri="{FF2B5EF4-FFF2-40B4-BE49-F238E27FC236}">
              <a16:creationId xmlns:a16="http://schemas.microsoft.com/office/drawing/2014/main" id="{E43EB530-3D51-6FD5-8E96-4CC23C4D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3" name="Google Shape;1533;p39">
            <a:extLst>
              <a:ext uri="{FF2B5EF4-FFF2-40B4-BE49-F238E27FC236}">
                <a16:creationId xmlns:a16="http://schemas.microsoft.com/office/drawing/2014/main" id="{429B7CF7-2B23-7485-A886-5BD478352B4F}"/>
              </a:ext>
            </a:extLst>
          </p:cNvPr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>
              <a:extLst>
                <a:ext uri="{FF2B5EF4-FFF2-40B4-BE49-F238E27FC236}">
                  <a16:creationId xmlns:a16="http://schemas.microsoft.com/office/drawing/2014/main" id="{FDE62A5E-DE89-D194-FF78-ED059575192C}"/>
                </a:ext>
              </a:extLst>
            </p:cNvPr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>
                <a:extLst>
                  <a:ext uri="{FF2B5EF4-FFF2-40B4-BE49-F238E27FC236}">
                    <a16:creationId xmlns:a16="http://schemas.microsoft.com/office/drawing/2014/main" id="{19C09560-A8EB-DBEF-A8D2-931B41FBC55C}"/>
                  </a:ext>
                </a:extLst>
              </p:cNvPr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>
                <a:extLst>
                  <a:ext uri="{FF2B5EF4-FFF2-40B4-BE49-F238E27FC236}">
                    <a16:creationId xmlns:a16="http://schemas.microsoft.com/office/drawing/2014/main" id="{CFE89363-4159-6913-CCBC-40807A204590}"/>
                  </a:ext>
                </a:extLst>
              </p:cNvPr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>
              <a:extLst>
                <a:ext uri="{FF2B5EF4-FFF2-40B4-BE49-F238E27FC236}">
                  <a16:creationId xmlns:a16="http://schemas.microsoft.com/office/drawing/2014/main" id="{FC5C7ECA-A6E3-B70A-732B-1BABF0F748EF}"/>
                </a:ext>
              </a:extLst>
            </p:cNvPr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>
                <a:extLst>
                  <a:ext uri="{FF2B5EF4-FFF2-40B4-BE49-F238E27FC236}">
                    <a16:creationId xmlns:a16="http://schemas.microsoft.com/office/drawing/2014/main" id="{501C47EB-B81B-C6F6-35B6-DB6F0CD42F28}"/>
                  </a:ext>
                </a:extLst>
              </p:cNvPr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>
                <a:extLst>
                  <a:ext uri="{FF2B5EF4-FFF2-40B4-BE49-F238E27FC236}">
                    <a16:creationId xmlns:a16="http://schemas.microsoft.com/office/drawing/2014/main" id="{A658E798-85C5-3493-3BD1-58025574164A}"/>
                  </a:ext>
                </a:extLst>
              </p:cNvPr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>
                <a:extLst>
                  <a:ext uri="{FF2B5EF4-FFF2-40B4-BE49-F238E27FC236}">
                    <a16:creationId xmlns:a16="http://schemas.microsoft.com/office/drawing/2014/main" id="{8AE2F02C-A7C0-2A20-37E9-4F7A715AC2BD}"/>
                  </a:ext>
                </a:extLst>
              </p:cNvPr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Google Shape;2411;p64">
            <a:extLst>
              <a:ext uri="{FF2B5EF4-FFF2-40B4-BE49-F238E27FC236}">
                <a16:creationId xmlns:a16="http://schemas.microsoft.com/office/drawing/2014/main" id="{07CFFC7E-8BA4-BF7C-3C03-592510F5D3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67462" y="2386686"/>
            <a:ext cx="6174836" cy="1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000" b="1" dirty="0">
                <a:latin typeface="IBM Plex Mono" panose="020B0509050203000203" pitchFamily="49" charset="0"/>
              </a:rPr>
              <a:t>Do you have any questions?</a:t>
            </a:r>
          </a:p>
          <a:p>
            <a:r>
              <a:rPr lang="en-US" b="0" dirty="0">
                <a:latin typeface="IBM Plex Mono" panose="020B0509050203000203" pitchFamily="49" charset="0"/>
              </a:rPr>
              <a:t>Thank you for your attention!</a:t>
            </a:r>
          </a:p>
          <a:p>
            <a:r>
              <a:rPr lang="en-US" b="0" dirty="0">
                <a:latin typeface="IBM Plex Mono" panose="020B0509050203000203" pitchFamily="49" charset="0"/>
              </a:rPr>
              <a:t>Let's start coding!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IBM Plex Mono" panose="020B0509050203000203" pitchFamily="49" charset="0"/>
            </a:endParaRPr>
          </a:p>
        </p:txBody>
      </p:sp>
      <p:sp>
        <p:nvSpPr>
          <p:cNvPr id="6" name="Google Shape;2412;p64">
            <a:extLst>
              <a:ext uri="{FF2B5EF4-FFF2-40B4-BE49-F238E27FC236}">
                <a16:creationId xmlns:a16="http://schemas.microsoft.com/office/drawing/2014/main" id="{1FA5AA53-CE0D-51CF-FE62-B27459281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7462" y="1369083"/>
            <a:ext cx="5126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Thanks!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596997207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1222</Words>
  <Application>Microsoft Office PowerPoint</Application>
  <PresentationFormat>On-screen Show (16:9)</PresentationFormat>
  <Paragraphs>250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Poppins</vt:lpstr>
      <vt:lpstr>Wingdings</vt:lpstr>
      <vt:lpstr>Roboto Condensed Light</vt:lpstr>
      <vt:lpstr>Arial</vt:lpstr>
      <vt:lpstr>IBM Plex Mono</vt:lpstr>
      <vt:lpstr>quote-cjk-patch</vt:lpstr>
      <vt:lpstr>Source Code Pro</vt:lpstr>
      <vt:lpstr>Roboto</vt:lpstr>
      <vt:lpstr>Introduction to Coding Workshop by Slidesgo</vt:lpstr>
      <vt:lpstr>Web Essentials: From Code to Career</vt:lpstr>
      <vt:lpstr>Backend Development with JSP</vt:lpstr>
      <vt:lpstr>Today's Roadmap</vt:lpstr>
      <vt:lpstr>JSP - Java Server Pages</vt:lpstr>
      <vt:lpstr>How JSP Works</vt:lpstr>
      <vt:lpstr>Tools &amp; Software Setup</vt:lpstr>
      <vt:lpstr>JSP Elements</vt:lpstr>
      <vt:lpstr>Scripting Elements</vt:lpstr>
      <vt:lpstr>Directives</vt:lpstr>
      <vt:lpstr>JSP Life Cycle</vt:lpstr>
      <vt:lpstr>Implicit Objects</vt:lpstr>
      <vt:lpstr>JSP + JavaBeans</vt:lpstr>
      <vt:lpstr>JSP + Database Connectivity (JDBC + MySQL)</vt:lpstr>
      <vt:lpstr>MVC Architecture (Model-View-Controller)</vt:lpstr>
      <vt:lpstr> MVC Workflow</vt:lpstr>
      <vt:lpstr>Model Component</vt:lpstr>
      <vt:lpstr>View Component</vt:lpstr>
      <vt:lpstr>Controller Component</vt:lpstr>
      <vt:lpstr>Controller Component</vt:lpstr>
      <vt:lpstr>Session Management in JSP</vt:lpstr>
      <vt:lpstr>Session Management Techniques</vt:lpstr>
      <vt:lpstr>Common Session Methods</vt:lpstr>
      <vt:lpstr>Session Example - Login System</vt:lpstr>
      <vt:lpstr>Session Example - Login System</vt:lpstr>
      <vt:lpstr>Session Example - Login System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Anil T Sagar</cp:lastModifiedBy>
  <cp:revision>6</cp:revision>
  <dcterms:modified xsi:type="dcterms:W3CDTF">2025-11-04T03:46:05Z</dcterms:modified>
</cp:coreProperties>
</file>